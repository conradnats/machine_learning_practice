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Lst>
  <p:sldSz cx="12192000" cy="6858000"/>
  <p:notesSz cx="6858000" cy="12192000"/>
  <p:embeddedFontLst>
    <p:embeddedFont>
      <p:font typeface="Calibri" panose="020F0502020204030204" pitchFamily="34" charset="0"/>
      <p:regular r:id="rId15"/>
      <p:bold r:id="rId16"/>
      <p:italic r:id="rId17"/>
      <p:boldItalic r:id="rId18"/>
    </p:embeddedFont>
    <p:embeddedFont>
      <p:font typeface="Gelasio" panose="020B0604020202020204" charset="0"/>
      <p:regular r:id="rId19"/>
    </p:embeddedFont>
    <p:embeddedFont>
      <p:font typeface="Gelasio Bold" panose="020B0604020202020204" charset="0"/>
      <p:regular r:id="rId20"/>
    </p:embeddedFont>
    <p:embeddedFont>
      <p:font typeface="Gelasio SemiBold" panose="020B0604020202020204" charset="0"/>
      <p:regular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8472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DCFBB"/>
          </a:solidFill>
          <a:ln/>
        </p:spPr>
      </p:sp>
      <p:sp>
        <p:nvSpPr>
          <p:cNvPr id="3" name="Shape 1"/>
          <p:cNvSpPr/>
          <p:nvPr/>
        </p:nvSpPr>
        <p:spPr>
          <a:xfrm>
            <a:off x="0" y="0"/>
            <a:ext cx="12191695" cy="68580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EEE8DD"/>
          </a:solidFill>
          <a:ln/>
        </p:spPr>
      </p:sp>
      <p:pic>
        <p:nvPicPr>
          <p:cNvPr id="3" name="Image 0" descr="preencoded.png"/>
          <p:cNvPicPr>
            <a:picLocks noChangeAspect="1"/>
          </p:cNvPicPr>
          <p:nvPr/>
        </p:nvPicPr>
        <p:blipFill>
          <a:blip r:embed="rId3"/>
          <a:stretch>
            <a:fillRect/>
          </a:stretch>
        </p:blipFill>
        <p:spPr>
          <a:xfrm>
            <a:off x="94454" y="506909"/>
            <a:ext cx="4382879" cy="5844084"/>
          </a:xfrm>
          <a:prstGeom prst="rect">
            <a:avLst/>
          </a:prstGeom>
        </p:spPr>
      </p:pic>
      <p:sp>
        <p:nvSpPr>
          <p:cNvPr id="4" name="Text 1"/>
          <p:cNvSpPr/>
          <p:nvPr/>
        </p:nvSpPr>
        <p:spPr>
          <a:xfrm>
            <a:off x="5233360" y="1050627"/>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484237"/>
                </a:solidFill>
                <a:latin typeface="Gelasio SemiBold" pitchFamily="34" charset="0"/>
                <a:ea typeface="Gelasio SemiBold" pitchFamily="34" charset="-122"/>
                <a:cs typeface="Gelasio SemiBold" pitchFamily="34" charset="-120"/>
              </a:rPr>
              <a:t>GPT-5 Prompt Engineering</a:t>
            </a:r>
            <a:endParaRPr lang="en-US" sz="3700" dirty="0"/>
          </a:p>
        </p:txBody>
      </p:sp>
      <p:sp>
        <p:nvSpPr>
          <p:cNvPr id="5" name="Text 2"/>
          <p:cNvSpPr/>
          <p:nvPr/>
        </p:nvSpPr>
        <p:spPr>
          <a:xfrm>
            <a:off x="5233360" y="2515394"/>
            <a:ext cx="6906444" cy="302419"/>
          </a:xfrm>
          <a:prstGeom prst="rect">
            <a:avLst/>
          </a:prstGeom>
          <a:noFill/>
          <a:ln/>
        </p:spPr>
        <p:txBody>
          <a:bodyPr wrap="none" lIns="0" tIns="0" rIns="0" bIns="0" rtlCol="0" anchor="t"/>
          <a:lstStyle/>
          <a:p>
            <a:pPr marL="0" indent="0" algn="l">
              <a:lnSpc>
                <a:spcPct val="133000"/>
              </a:lnSpc>
              <a:buNone/>
            </a:pPr>
            <a:r>
              <a:rPr lang="en-US" sz="1450" dirty="0">
                <a:solidFill>
                  <a:srgbClr val="746558"/>
                </a:solidFill>
                <a:latin typeface="Gelasio" pitchFamily="34" charset="0"/>
                <a:ea typeface="Gelasio" pitchFamily="34" charset="-122"/>
                <a:cs typeface="Gelasio" pitchFamily="34" charset="-120"/>
              </a:rPr>
              <a:t>Balancing Agentic Eagerness, Reasoning Effort, and Clarity of Instructions</a:t>
            </a:r>
            <a:endParaRPr lang="en-US" sz="1450" dirty="0"/>
          </a:p>
        </p:txBody>
      </p:sp>
      <p:sp>
        <p:nvSpPr>
          <p:cNvPr id="6" name="Shape 3"/>
          <p:cNvSpPr/>
          <p:nvPr/>
        </p:nvSpPr>
        <p:spPr>
          <a:xfrm>
            <a:off x="5233360" y="3326309"/>
            <a:ext cx="3053877" cy="25400"/>
          </a:xfrm>
          <a:prstGeom prst="rect">
            <a:avLst/>
          </a:prstGeom>
          <a:solidFill>
            <a:srgbClr val="D3C5B6"/>
          </a:solidFill>
          <a:ln/>
        </p:spPr>
      </p:sp>
      <p:sp>
        <p:nvSpPr>
          <p:cNvPr id="7" name="Text 4"/>
          <p:cNvSpPr/>
          <p:nvPr/>
        </p:nvSpPr>
        <p:spPr>
          <a:xfrm>
            <a:off x="5233360" y="3471565"/>
            <a:ext cx="3053877" cy="295275"/>
          </a:xfrm>
          <a:prstGeom prst="rect">
            <a:avLst/>
          </a:prstGeom>
          <a:noFill/>
          <a:ln/>
        </p:spPr>
        <p:txBody>
          <a:bodyPr wrap="none" lIns="0" tIns="0" rIns="0" bIns="0" rtlCol="0" anchor="t"/>
          <a:lstStyle/>
          <a:p>
            <a:pPr marL="0" indent="0" algn="l">
              <a:lnSpc>
                <a:spcPct val="104000"/>
              </a:lnSpc>
              <a:buNone/>
            </a:pPr>
            <a:r>
              <a:rPr lang="en-US" sz="1850" dirty="0">
                <a:solidFill>
                  <a:srgbClr val="746558"/>
                </a:solidFill>
                <a:latin typeface="Gelasio SemiBold" pitchFamily="34" charset="0"/>
                <a:ea typeface="Gelasio SemiBold" pitchFamily="34" charset="-122"/>
                <a:cs typeface="Gelasio SemiBold" pitchFamily="34" charset="-120"/>
              </a:rPr>
              <a:t>Mugisha Timothy</a:t>
            </a:r>
            <a:endParaRPr lang="en-US" sz="1850" dirty="0"/>
          </a:p>
        </p:txBody>
      </p:sp>
      <p:sp>
        <p:nvSpPr>
          <p:cNvPr id="8" name="Text 5"/>
          <p:cNvSpPr/>
          <p:nvPr/>
        </p:nvSpPr>
        <p:spPr>
          <a:xfrm>
            <a:off x="5233360" y="3880247"/>
            <a:ext cx="3053877" cy="302419"/>
          </a:xfrm>
          <a:prstGeom prst="rect">
            <a:avLst/>
          </a:prstGeom>
          <a:noFill/>
          <a:ln/>
        </p:spPr>
        <p:txBody>
          <a:bodyPr wrap="none" lIns="0" tIns="0" rIns="0" bIns="0" rtlCol="0" anchor="t"/>
          <a:lstStyle/>
          <a:p>
            <a:pPr marL="0" indent="0" algn="l">
              <a:lnSpc>
                <a:spcPct val="133000"/>
              </a:lnSpc>
              <a:buNone/>
            </a:pPr>
            <a:r>
              <a:rPr lang="en-US" sz="1450" dirty="0">
                <a:solidFill>
                  <a:srgbClr val="746558"/>
                </a:solidFill>
                <a:latin typeface="Gelasio" pitchFamily="34" charset="0"/>
                <a:ea typeface="Gelasio" pitchFamily="34" charset="-122"/>
                <a:cs typeface="Gelasio" pitchFamily="34" charset="-120"/>
              </a:rPr>
              <a:t>S25B38/041</a:t>
            </a:r>
            <a:endParaRPr lang="en-US" sz="1450" dirty="0"/>
          </a:p>
        </p:txBody>
      </p:sp>
      <p:sp>
        <p:nvSpPr>
          <p:cNvPr id="9" name="Shape 6"/>
          <p:cNvSpPr/>
          <p:nvPr/>
        </p:nvSpPr>
        <p:spPr>
          <a:xfrm>
            <a:off x="8476244" y="3326309"/>
            <a:ext cx="3053976" cy="25400"/>
          </a:xfrm>
          <a:prstGeom prst="rect">
            <a:avLst/>
          </a:prstGeom>
          <a:solidFill>
            <a:srgbClr val="D3C5B6"/>
          </a:solidFill>
          <a:ln/>
        </p:spPr>
      </p:sp>
      <p:sp>
        <p:nvSpPr>
          <p:cNvPr id="10" name="Text 7"/>
          <p:cNvSpPr/>
          <p:nvPr/>
        </p:nvSpPr>
        <p:spPr>
          <a:xfrm>
            <a:off x="8476244" y="3471565"/>
            <a:ext cx="3053976" cy="295275"/>
          </a:xfrm>
          <a:prstGeom prst="rect">
            <a:avLst/>
          </a:prstGeom>
          <a:noFill/>
          <a:ln/>
        </p:spPr>
        <p:txBody>
          <a:bodyPr wrap="none" lIns="0" tIns="0" rIns="0" bIns="0" rtlCol="0" anchor="t"/>
          <a:lstStyle/>
          <a:p>
            <a:pPr marL="0" indent="0" algn="l">
              <a:lnSpc>
                <a:spcPct val="104000"/>
              </a:lnSpc>
              <a:buNone/>
            </a:pPr>
            <a:r>
              <a:rPr lang="en-US" sz="1850" dirty="0">
                <a:solidFill>
                  <a:srgbClr val="746558"/>
                </a:solidFill>
                <a:latin typeface="Gelasio SemiBold" pitchFamily="34" charset="0"/>
                <a:ea typeface="Gelasio SemiBold" pitchFamily="34" charset="-122"/>
                <a:cs typeface="Gelasio SemiBold" pitchFamily="34" charset="-120"/>
              </a:rPr>
              <a:t>Natuyamba Conrad</a:t>
            </a:r>
            <a:endParaRPr lang="en-US" sz="1850" dirty="0"/>
          </a:p>
        </p:txBody>
      </p:sp>
      <p:sp>
        <p:nvSpPr>
          <p:cNvPr id="11" name="Text 8"/>
          <p:cNvSpPr/>
          <p:nvPr/>
        </p:nvSpPr>
        <p:spPr>
          <a:xfrm>
            <a:off x="8476244" y="3880247"/>
            <a:ext cx="3053976" cy="302419"/>
          </a:xfrm>
          <a:prstGeom prst="rect">
            <a:avLst/>
          </a:prstGeom>
          <a:noFill/>
          <a:ln/>
        </p:spPr>
        <p:txBody>
          <a:bodyPr wrap="none" lIns="0" tIns="0" rIns="0" bIns="0" rtlCol="0" anchor="t"/>
          <a:lstStyle/>
          <a:p>
            <a:pPr marL="0" indent="0" algn="l">
              <a:lnSpc>
                <a:spcPct val="133000"/>
              </a:lnSpc>
              <a:buNone/>
            </a:pPr>
            <a:r>
              <a:rPr lang="en-US" sz="1450" dirty="0">
                <a:solidFill>
                  <a:srgbClr val="746558"/>
                </a:solidFill>
                <a:latin typeface="Gelasio" pitchFamily="34" charset="0"/>
                <a:ea typeface="Gelasio" pitchFamily="34" charset="-122"/>
                <a:cs typeface="Gelasio" pitchFamily="34" charset="-120"/>
              </a:rPr>
              <a:t>S25B38/027</a:t>
            </a:r>
            <a:endParaRPr lang="en-US" sz="1450" dirty="0"/>
          </a:p>
        </p:txBody>
      </p:sp>
      <p:sp>
        <p:nvSpPr>
          <p:cNvPr id="12" name="Shape 9"/>
          <p:cNvSpPr/>
          <p:nvPr/>
        </p:nvSpPr>
        <p:spPr>
          <a:xfrm>
            <a:off x="5233360" y="4809232"/>
            <a:ext cx="6296860" cy="25400"/>
          </a:xfrm>
          <a:prstGeom prst="rect">
            <a:avLst/>
          </a:prstGeom>
          <a:solidFill>
            <a:srgbClr val="D3C5B6"/>
          </a:solidFill>
          <a:ln/>
        </p:spPr>
      </p:sp>
      <p:sp>
        <p:nvSpPr>
          <p:cNvPr id="13" name="Text 10"/>
          <p:cNvSpPr/>
          <p:nvPr/>
        </p:nvSpPr>
        <p:spPr>
          <a:xfrm>
            <a:off x="5233360" y="4954488"/>
            <a:ext cx="6296860" cy="295275"/>
          </a:xfrm>
          <a:prstGeom prst="rect">
            <a:avLst/>
          </a:prstGeom>
          <a:noFill/>
          <a:ln/>
        </p:spPr>
        <p:txBody>
          <a:bodyPr wrap="none" lIns="0" tIns="0" rIns="0" bIns="0" rtlCol="0" anchor="t"/>
          <a:lstStyle/>
          <a:p>
            <a:pPr marL="0" indent="0" algn="l">
              <a:lnSpc>
                <a:spcPct val="104000"/>
              </a:lnSpc>
              <a:buNone/>
            </a:pPr>
            <a:r>
              <a:rPr lang="en-US" sz="1850" dirty="0">
                <a:solidFill>
                  <a:srgbClr val="746558"/>
                </a:solidFill>
                <a:latin typeface="Gelasio SemiBold" pitchFamily="34" charset="0"/>
                <a:ea typeface="Gelasio SemiBold" pitchFamily="34" charset="-122"/>
                <a:cs typeface="Gelasio SemiBold" pitchFamily="34" charset="-120"/>
              </a:rPr>
              <a:t>Mutagamba Jasmine Martha</a:t>
            </a:r>
            <a:endParaRPr lang="en-US" sz="1850" dirty="0"/>
          </a:p>
        </p:txBody>
      </p:sp>
      <p:sp>
        <p:nvSpPr>
          <p:cNvPr id="14" name="Text 11"/>
          <p:cNvSpPr/>
          <p:nvPr/>
        </p:nvSpPr>
        <p:spPr>
          <a:xfrm>
            <a:off x="5233360" y="5363170"/>
            <a:ext cx="6296860" cy="302419"/>
          </a:xfrm>
          <a:prstGeom prst="rect">
            <a:avLst/>
          </a:prstGeom>
          <a:noFill/>
          <a:ln/>
        </p:spPr>
        <p:txBody>
          <a:bodyPr wrap="none" lIns="0" tIns="0" rIns="0" bIns="0" rtlCol="0" anchor="t"/>
          <a:lstStyle/>
          <a:p>
            <a:pPr marL="0" indent="0" algn="l">
              <a:lnSpc>
                <a:spcPct val="133000"/>
              </a:lnSpc>
              <a:buNone/>
            </a:pPr>
            <a:r>
              <a:rPr lang="en-US" sz="1450" dirty="0">
                <a:solidFill>
                  <a:srgbClr val="746558"/>
                </a:solidFill>
                <a:latin typeface="Gelasio" pitchFamily="34" charset="0"/>
                <a:ea typeface="Gelasio" pitchFamily="34" charset="-122"/>
                <a:cs typeface="Gelasio" pitchFamily="34" charset="-120"/>
              </a:rPr>
              <a:t>S25B38/028</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550664"/>
            <a:ext cx="6296860" cy="590649"/>
          </a:xfrm>
          <a:prstGeom prst="rect">
            <a:avLst/>
          </a:prstGeom>
          <a:noFill/>
          <a:ln/>
        </p:spPr>
        <p:txBody>
          <a:bodyPr wrap="none" lIns="0" tIns="0" rIns="0" bIns="0" rtlCol="0" anchor="t"/>
          <a:lstStyle/>
          <a:p>
            <a:pPr marL="0" indent="0" algn="l">
              <a:lnSpc>
                <a:spcPct val="104000"/>
              </a:lnSpc>
              <a:buNone/>
            </a:pPr>
            <a:r>
              <a:rPr lang="en-US" sz="3700" dirty="0">
                <a:solidFill>
                  <a:srgbClr val="484237"/>
                </a:solidFill>
                <a:latin typeface="Gelasio SemiBold" pitchFamily="34" charset="0"/>
                <a:ea typeface="Gelasio SemiBold" pitchFamily="34" charset="-122"/>
                <a:cs typeface="Gelasio SemiBold" pitchFamily="34" charset="-120"/>
              </a:rPr>
              <a:t>The Three Core Principles</a:t>
            </a:r>
            <a:endParaRPr lang="en-US" sz="3700" dirty="0"/>
          </a:p>
        </p:txBody>
      </p:sp>
      <p:sp>
        <p:nvSpPr>
          <p:cNvPr id="4" name="Shape 1"/>
          <p:cNvSpPr/>
          <p:nvPr/>
        </p:nvSpPr>
        <p:spPr>
          <a:xfrm>
            <a:off x="5233360" y="1424781"/>
            <a:ext cx="6296860" cy="1501477"/>
          </a:xfrm>
          <a:prstGeom prst="roundRect">
            <a:avLst>
              <a:gd name="adj" fmla="val 1888"/>
            </a:avLst>
          </a:prstGeom>
          <a:solidFill>
            <a:srgbClr val="F9F6F0"/>
          </a:solidFill>
          <a:ln w="25399">
            <a:solidFill>
              <a:srgbClr val="D4CEC3"/>
            </a:solidFill>
            <a:prstDash val="solid"/>
          </a:ln>
        </p:spPr>
      </p:sp>
      <p:sp>
        <p:nvSpPr>
          <p:cNvPr id="5" name="Text 2"/>
          <p:cNvSpPr/>
          <p:nvPr/>
        </p:nvSpPr>
        <p:spPr>
          <a:xfrm>
            <a:off x="5447767" y="1639193"/>
            <a:ext cx="5868047" cy="354409"/>
          </a:xfrm>
          <a:prstGeom prst="rect">
            <a:avLst/>
          </a:prstGeom>
          <a:noFill/>
          <a:ln/>
        </p:spPr>
        <p:txBody>
          <a:bodyPr wrap="none" lIns="0" tIns="0" rIns="0" bIns="0" rtlCol="0" anchor="t"/>
          <a:lstStyle/>
          <a:p>
            <a:pPr marL="0" indent="0" algn="l">
              <a:lnSpc>
                <a:spcPct val="104000"/>
              </a:lnSpc>
              <a:buNone/>
            </a:pPr>
            <a:r>
              <a:rPr lang="en-US" sz="2200" dirty="0">
                <a:solidFill>
                  <a:srgbClr val="746558"/>
                </a:solidFill>
                <a:latin typeface="Gelasio SemiBold" pitchFamily="34" charset="0"/>
                <a:ea typeface="Gelasio SemiBold" pitchFamily="34" charset="-122"/>
                <a:cs typeface="Gelasio SemiBold" pitchFamily="34" charset="-120"/>
              </a:rPr>
              <a:t>Agentic Eagerness</a:t>
            </a:r>
            <a:endParaRPr lang="en-US" sz="2200" dirty="0"/>
          </a:p>
        </p:txBody>
      </p:sp>
      <p:sp>
        <p:nvSpPr>
          <p:cNvPr id="6" name="Text 3"/>
          <p:cNvSpPr/>
          <p:nvPr/>
        </p:nvSpPr>
        <p:spPr>
          <a:xfrm>
            <a:off x="5447767" y="2107009"/>
            <a:ext cx="5868047"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746558"/>
                </a:solidFill>
                <a:latin typeface="Gelasio" pitchFamily="34" charset="0"/>
                <a:ea typeface="Gelasio" pitchFamily="34" charset="-122"/>
                <a:cs typeface="Gelasio" pitchFamily="34" charset="-120"/>
              </a:rPr>
              <a:t>Controls how proactive GPT-5 is—from tightly controlled behaviour to highly autonomous decision-making.</a:t>
            </a:r>
            <a:endParaRPr lang="en-US" sz="1450" dirty="0"/>
          </a:p>
        </p:txBody>
      </p:sp>
      <p:sp>
        <p:nvSpPr>
          <p:cNvPr id="7" name="Shape 4"/>
          <p:cNvSpPr/>
          <p:nvPr/>
        </p:nvSpPr>
        <p:spPr>
          <a:xfrm>
            <a:off x="5233360" y="3115270"/>
            <a:ext cx="6296860" cy="1501477"/>
          </a:xfrm>
          <a:prstGeom prst="roundRect">
            <a:avLst>
              <a:gd name="adj" fmla="val 1888"/>
            </a:avLst>
          </a:prstGeom>
          <a:solidFill>
            <a:srgbClr val="F9F6F0"/>
          </a:solidFill>
          <a:ln w="25399">
            <a:solidFill>
              <a:srgbClr val="D4CEC3"/>
            </a:solidFill>
            <a:prstDash val="solid"/>
          </a:ln>
        </p:spPr>
      </p:sp>
      <p:sp>
        <p:nvSpPr>
          <p:cNvPr id="8" name="Text 5"/>
          <p:cNvSpPr/>
          <p:nvPr/>
        </p:nvSpPr>
        <p:spPr>
          <a:xfrm>
            <a:off x="5447767" y="3329682"/>
            <a:ext cx="5868047" cy="354409"/>
          </a:xfrm>
          <a:prstGeom prst="rect">
            <a:avLst/>
          </a:prstGeom>
          <a:noFill/>
          <a:ln/>
        </p:spPr>
        <p:txBody>
          <a:bodyPr wrap="none" lIns="0" tIns="0" rIns="0" bIns="0" rtlCol="0" anchor="t"/>
          <a:lstStyle/>
          <a:p>
            <a:pPr marL="0" indent="0" algn="l">
              <a:lnSpc>
                <a:spcPct val="104000"/>
              </a:lnSpc>
              <a:buNone/>
            </a:pPr>
            <a:r>
              <a:rPr lang="en-US" sz="2200" dirty="0">
                <a:solidFill>
                  <a:srgbClr val="746558"/>
                </a:solidFill>
                <a:latin typeface="Gelasio SemiBold" pitchFamily="34" charset="0"/>
                <a:ea typeface="Gelasio SemiBold" pitchFamily="34" charset="-122"/>
                <a:cs typeface="Gelasio SemiBold" pitchFamily="34" charset="-120"/>
              </a:rPr>
              <a:t>Reasoning Effort</a:t>
            </a:r>
            <a:endParaRPr lang="en-US" sz="2200" dirty="0"/>
          </a:p>
        </p:txBody>
      </p:sp>
      <p:sp>
        <p:nvSpPr>
          <p:cNvPr id="9" name="Text 6"/>
          <p:cNvSpPr/>
          <p:nvPr/>
        </p:nvSpPr>
        <p:spPr>
          <a:xfrm>
            <a:off x="5447767" y="3797498"/>
            <a:ext cx="5868047"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746558"/>
                </a:solidFill>
                <a:latin typeface="Gelasio" pitchFamily="34" charset="0"/>
                <a:ea typeface="Gelasio" pitchFamily="34" charset="-122"/>
                <a:cs typeface="Gelasio" pitchFamily="34" charset="-120"/>
              </a:rPr>
              <a:t>Determines how deeply GPT-5 analyses a problem before producing answers, from minimal to high cognitive work.</a:t>
            </a:r>
            <a:endParaRPr lang="en-US" sz="1450" dirty="0"/>
          </a:p>
        </p:txBody>
      </p:sp>
      <p:sp>
        <p:nvSpPr>
          <p:cNvPr id="10" name="Shape 7"/>
          <p:cNvSpPr/>
          <p:nvPr/>
        </p:nvSpPr>
        <p:spPr>
          <a:xfrm>
            <a:off x="5233360" y="4805759"/>
            <a:ext cx="6296860" cy="1501477"/>
          </a:xfrm>
          <a:prstGeom prst="roundRect">
            <a:avLst>
              <a:gd name="adj" fmla="val 1888"/>
            </a:avLst>
          </a:prstGeom>
          <a:solidFill>
            <a:srgbClr val="F9F6F0"/>
          </a:solidFill>
          <a:ln w="25399">
            <a:solidFill>
              <a:srgbClr val="D4CEC3"/>
            </a:solidFill>
            <a:prstDash val="solid"/>
          </a:ln>
        </p:spPr>
      </p:sp>
      <p:sp>
        <p:nvSpPr>
          <p:cNvPr id="11" name="Text 8"/>
          <p:cNvSpPr/>
          <p:nvPr/>
        </p:nvSpPr>
        <p:spPr>
          <a:xfrm>
            <a:off x="5447767" y="5020171"/>
            <a:ext cx="5868047" cy="354409"/>
          </a:xfrm>
          <a:prstGeom prst="rect">
            <a:avLst/>
          </a:prstGeom>
          <a:noFill/>
          <a:ln/>
        </p:spPr>
        <p:txBody>
          <a:bodyPr wrap="none" lIns="0" tIns="0" rIns="0" bIns="0" rtlCol="0" anchor="t"/>
          <a:lstStyle/>
          <a:p>
            <a:pPr marL="0" indent="0" algn="l">
              <a:lnSpc>
                <a:spcPct val="104000"/>
              </a:lnSpc>
              <a:buNone/>
            </a:pPr>
            <a:r>
              <a:rPr lang="en-US" sz="2200" dirty="0">
                <a:solidFill>
                  <a:srgbClr val="746558"/>
                </a:solidFill>
                <a:latin typeface="Gelasio SemiBold" pitchFamily="34" charset="0"/>
                <a:ea typeface="Gelasio SemiBold" pitchFamily="34" charset="-122"/>
                <a:cs typeface="Gelasio SemiBold" pitchFamily="34" charset="-120"/>
              </a:rPr>
              <a:t>Clarity of Instructions</a:t>
            </a:r>
            <a:endParaRPr lang="en-US" sz="2200" dirty="0"/>
          </a:p>
        </p:txBody>
      </p:sp>
      <p:sp>
        <p:nvSpPr>
          <p:cNvPr id="12" name="Text 9"/>
          <p:cNvSpPr/>
          <p:nvPr/>
        </p:nvSpPr>
        <p:spPr>
          <a:xfrm>
            <a:off x="5447767" y="5487988"/>
            <a:ext cx="5868047"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746558"/>
                </a:solidFill>
                <a:latin typeface="Gelasio" pitchFamily="34" charset="0"/>
                <a:ea typeface="Gelasio" pitchFamily="34" charset="-122"/>
                <a:cs typeface="Gelasio" pitchFamily="34" charset="-120"/>
              </a:rPr>
              <a:t>Provides explicit goals, context, constraints, and expected outputs for predictable and reliable responses.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32904"/>
            <a:ext cx="10868745" cy="563066"/>
          </a:xfrm>
          <a:prstGeom prst="rect">
            <a:avLst/>
          </a:prstGeom>
          <a:noFill/>
          <a:ln/>
        </p:spPr>
        <p:txBody>
          <a:bodyPr wrap="none" lIns="0" tIns="0" rIns="0" bIns="0" rtlCol="0" anchor="t"/>
          <a:lstStyle/>
          <a:p>
            <a:pPr marL="0" indent="0" algn="l">
              <a:lnSpc>
                <a:spcPct val="104000"/>
              </a:lnSpc>
              <a:buNone/>
            </a:pPr>
            <a:r>
              <a:rPr lang="en-US" sz="3500" dirty="0">
                <a:solidFill>
                  <a:srgbClr val="484237"/>
                </a:solidFill>
                <a:latin typeface="Gelasio SemiBold" pitchFamily="34" charset="0"/>
                <a:ea typeface="Gelasio SemiBold" pitchFamily="34" charset="-122"/>
                <a:cs typeface="Gelasio SemiBold" pitchFamily="34" charset="-120"/>
              </a:rPr>
              <a:t>Understanding Agentic Eagerness</a:t>
            </a:r>
            <a:endParaRPr lang="en-US" sz="3500" dirty="0"/>
          </a:p>
        </p:txBody>
      </p:sp>
      <p:pic>
        <p:nvPicPr>
          <p:cNvPr id="3" name="Image 0" descr="preencoded.png"/>
          <p:cNvPicPr>
            <a:picLocks noChangeAspect="1"/>
          </p:cNvPicPr>
          <p:nvPr/>
        </p:nvPicPr>
        <p:blipFill>
          <a:blip r:embed="rId3"/>
          <a:stretch>
            <a:fillRect/>
          </a:stretch>
        </p:blipFill>
        <p:spPr>
          <a:xfrm>
            <a:off x="661475" y="2080022"/>
            <a:ext cx="3518308" cy="3518396"/>
          </a:xfrm>
          <a:prstGeom prst="rect">
            <a:avLst/>
          </a:prstGeom>
        </p:spPr>
      </p:pic>
      <p:sp>
        <p:nvSpPr>
          <p:cNvPr id="4" name="Text 1"/>
          <p:cNvSpPr/>
          <p:nvPr/>
        </p:nvSpPr>
        <p:spPr>
          <a:xfrm>
            <a:off x="4625661" y="1525191"/>
            <a:ext cx="6910810" cy="281484"/>
          </a:xfrm>
          <a:prstGeom prst="rect">
            <a:avLst/>
          </a:prstGeom>
          <a:noFill/>
          <a:ln/>
        </p:spPr>
        <p:txBody>
          <a:bodyPr wrap="none" lIns="0" tIns="0" rIns="0" bIns="0" rtlCol="0" anchor="t"/>
          <a:lstStyle/>
          <a:p>
            <a:pPr marL="0" indent="0" algn="l">
              <a:lnSpc>
                <a:spcPct val="104000"/>
              </a:lnSpc>
              <a:buNone/>
            </a:pPr>
            <a:r>
              <a:rPr lang="en-US" sz="1750" dirty="0">
                <a:solidFill>
                  <a:srgbClr val="484237"/>
                </a:solidFill>
                <a:latin typeface="Gelasio SemiBold" pitchFamily="34" charset="0"/>
                <a:ea typeface="Gelasio SemiBold" pitchFamily="34" charset="-122"/>
                <a:cs typeface="Gelasio SemiBold" pitchFamily="34" charset="-120"/>
              </a:rPr>
              <a:t>Definition</a:t>
            </a:r>
            <a:endParaRPr lang="en-US" sz="1750" dirty="0"/>
          </a:p>
        </p:txBody>
      </p:sp>
      <p:sp>
        <p:nvSpPr>
          <p:cNvPr id="5" name="Text 2"/>
          <p:cNvSpPr/>
          <p:nvPr/>
        </p:nvSpPr>
        <p:spPr>
          <a:xfrm>
            <a:off x="4625661" y="1978323"/>
            <a:ext cx="6910810" cy="562967"/>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746558"/>
                </a:solidFill>
                <a:latin typeface="Gelasio" pitchFamily="34" charset="0"/>
                <a:ea typeface="Gelasio" pitchFamily="34" charset="-122"/>
                <a:cs typeface="Gelasio" pitchFamily="34" charset="-120"/>
              </a:rPr>
              <a:t>How proactive GPT-5 is when completing a task—searching for information, calling tools, or working autonomously.</a:t>
            </a:r>
            <a:endParaRPr lang="en-US" sz="1400" dirty="0"/>
          </a:p>
        </p:txBody>
      </p:sp>
      <p:sp>
        <p:nvSpPr>
          <p:cNvPr id="6" name="Text 3"/>
          <p:cNvSpPr/>
          <p:nvPr/>
        </p:nvSpPr>
        <p:spPr>
          <a:xfrm>
            <a:off x="4625661" y="2712938"/>
            <a:ext cx="6910810" cy="281484"/>
          </a:xfrm>
          <a:prstGeom prst="rect">
            <a:avLst/>
          </a:prstGeom>
          <a:noFill/>
          <a:ln/>
        </p:spPr>
        <p:txBody>
          <a:bodyPr wrap="none" lIns="0" tIns="0" rIns="0" bIns="0" rtlCol="0" anchor="t"/>
          <a:lstStyle/>
          <a:p>
            <a:pPr marL="0" indent="0" algn="l">
              <a:lnSpc>
                <a:spcPct val="104000"/>
              </a:lnSpc>
              <a:buNone/>
            </a:pPr>
            <a:r>
              <a:rPr lang="en-US" sz="1750" dirty="0">
                <a:solidFill>
                  <a:srgbClr val="484237"/>
                </a:solidFill>
                <a:latin typeface="Gelasio SemiBold" pitchFamily="34" charset="0"/>
                <a:ea typeface="Gelasio SemiBold" pitchFamily="34" charset="-122"/>
                <a:cs typeface="Gelasio SemiBold" pitchFamily="34" charset="-120"/>
              </a:rPr>
              <a:t>High vs Low Eagerness</a:t>
            </a:r>
            <a:endParaRPr lang="en-US" sz="1750" dirty="0"/>
          </a:p>
        </p:txBody>
      </p:sp>
      <p:sp>
        <p:nvSpPr>
          <p:cNvPr id="7" name="Text 4"/>
          <p:cNvSpPr/>
          <p:nvPr/>
        </p:nvSpPr>
        <p:spPr>
          <a:xfrm>
            <a:off x="4625661" y="3166070"/>
            <a:ext cx="6910810" cy="622995"/>
          </a:xfrm>
          <a:prstGeom prst="rect">
            <a:avLst/>
          </a:prstGeom>
          <a:noFill/>
          <a:ln/>
        </p:spPr>
        <p:txBody>
          <a:bodyPr wrap="square" lIns="0" tIns="0" rIns="0" bIns="0" rtlCol="0" anchor="t">
            <a:normAutofit/>
          </a:bodyPr>
          <a:lstStyle/>
          <a:p>
            <a:pPr marL="284480" indent="-284480" algn="l">
              <a:lnSpc>
                <a:spcPct val="130000"/>
              </a:lnSpc>
              <a:buSzPct val="100000"/>
              <a:buChar char="•"/>
            </a:pPr>
            <a:r>
              <a:rPr lang="en-US" sz="1400" b="1" dirty="0">
                <a:solidFill>
                  <a:srgbClr val="746558"/>
                </a:solidFill>
                <a:latin typeface="Gelasio Bold" pitchFamily="34" charset="0"/>
                <a:ea typeface="Gelasio Bold" pitchFamily="34" charset="-122"/>
                <a:cs typeface="Gelasio Bold" pitchFamily="34" charset="-120"/>
              </a:rPr>
              <a:t>High:</a:t>
            </a:r>
            <a:r>
              <a:rPr lang="en-US" sz="1400" dirty="0">
                <a:solidFill>
                  <a:srgbClr val="746558"/>
                </a:solidFill>
                <a:latin typeface="Gelasio" pitchFamily="34" charset="0"/>
                <a:ea typeface="Gelasio" pitchFamily="34" charset="-122"/>
                <a:cs typeface="Gelasio" pitchFamily="34" charset="-120"/>
              </a:rPr>
              <a:t> Searches multiple sources, makes autonomous decisions</a:t>
            </a:r>
            <a:endParaRPr lang="en-US" sz="1400" dirty="0"/>
          </a:p>
          <a:p>
            <a:pPr marL="284480" indent="-284480" algn="l">
              <a:lnSpc>
                <a:spcPct val="130000"/>
              </a:lnSpc>
              <a:buSzPct val="100000"/>
              <a:buChar char="•"/>
            </a:pPr>
            <a:r>
              <a:rPr lang="en-US" sz="1400" b="1" dirty="0">
                <a:solidFill>
                  <a:srgbClr val="746558"/>
                </a:solidFill>
                <a:latin typeface="Gelasio Bold" pitchFamily="34" charset="0"/>
                <a:ea typeface="Gelasio Bold" pitchFamily="34" charset="-122"/>
                <a:cs typeface="Gelasio Bold" pitchFamily="34" charset="-120"/>
              </a:rPr>
              <a:t>Low:</a:t>
            </a:r>
            <a:r>
              <a:rPr lang="en-US" sz="1400" dirty="0">
                <a:solidFill>
                  <a:srgbClr val="746558"/>
                </a:solidFill>
                <a:latin typeface="Gelasio" pitchFamily="34" charset="0"/>
                <a:ea typeface="Gelasio" pitchFamily="34" charset="-122"/>
                <a:cs typeface="Gelasio" pitchFamily="34" charset="-120"/>
              </a:rPr>
              <a:t> Uses only given information, waits for instructions</a:t>
            </a:r>
            <a:endParaRPr lang="en-US" sz="1400" dirty="0"/>
          </a:p>
        </p:txBody>
      </p:sp>
      <p:sp>
        <p:nvSpPr>
          <p:cNvPr id="8" name="Text 5"/>
          <p:cNvSpPr/>
          <p:nvPr/>
        </p:nvSpPr>
        <p:spPr>
          <a:xfrm>
            <a:off x="4625661" y="3960713"/>
            <a:ext cx="6910810" cy="281484"/>
          </a:xfrm>
          <a:prstGeom prst="rect">
            <a:avLst/>
          </a:prstGeom>
          <a:noFill/>
          <a:ln/>
        </p:spPr>
        <p:txBody>
          <a:bodyPr wrap="none" lIns="0" tIns="0" rIns="0" bIns="0" rtlCol="0" anchor="t"/>
          <a:lstStyle/>
          <a:p>
            <a:pPr marL="0" indent="0" algn="l">
              <a:lnSpc>
                <a:spcPct val="104000"/>
              </a:lnSpc>
              <a:buNone/>
            </a:pPr>
            <a:r>
              <a:rPr lang="en-US" sz="1750" dirty="0">
                <a:solidFill>
                  <a:srgbClr val="484237"/>
                </a:solidFill>
                <a:latin typeface="Gelasio SemiBold" pitchFamily="34" charset="0"/>
                <a:ea typeface="Gelasio SemiBold" pitchFamily="34" charset="-122"/>
                <a:cs typeface="Gelasio SemiBold" pitchFamily="34" charset="-120"/>
              </a:rPr>
              <a:t>Key Insight</a:t>
            </a:r>
            <a:endParaRPr lang="en-US" sz="1750" dirty="0"/>
          </a:p>
        </p:txBody>
      </p:sp>
      <p:sp>
        <p:nvSpPr>
          <p:cNvPr id="9" name="Text 6"/>
          <p:cNvSpPr/>
          <p:nvPr/>
        </p:nvSpPr>
        <p:spPr>
          <a:xfrm>
            <a:off x="4625661" y="4413845"/>
            <a:ext cx="6910810" cy="562967"/>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746558"/>
                </a:solidFill>
                <a:latin typeface="Gelasio" pitchFamily="34" charset="0"/>
                <a:ea typeface="Gelasio" pitchFamily="34" charset="-122"/>
                <a:cs typeface="Gelasio" pitchFamily="34" charset="-120"/>
              </a:rPr>
              <a:t>Should be </a:t>
            </a:r>
            <a:r>
              <a:rPr lang="en-US" sz="1400" b="1" dirty="0">
                <a:solidFill>
                  <a:srgbClr val="746558"/>
                </a:solidFill>
                <a:latin typeface="Gelasio Bold" pitchFamily="34" charset="0"/>
                <a:ea typeface="Gelasio Bold" pitchFamily="34" charset="-122"/>
                <a:cs typeface="Gelasio Bold" pitchFamily="34" charset="-120"/>
              </a:rPr>
              <a:t>calibrated, not maximized.</a:t>
            </a:r>
            <a:r>
              <a:rPr lang="en-US" sz="1400" dirty="0">
                <a:solidFill>
                  <a:srgbClr val="746558"/>
                </a:solidFill>
                <a:latin typeface="Gelasio" pitchFamily="34" charset="0"/>
                <a:ea typeface="Gelasio" pitchFamily="34" charset="-122"/>
                <a:cs typeface="Gelasio" pitchFamily="34" charset="-120"/>
              </a:rPr>
              <a:t> Balance prevents unnecessary tool usage and incomplete tasks.</a:t>
            </a:r>
            <a:endParaRPr lang="en-US" sz="1400" dirty="0"/>
          </a:p>
        </p:txBody>
      </p:sp>
      <p:sp>
        <p:nvSpPr>
          <p:cNvPr id="10" name="Shape 7"/>
          <p:cNvSpPr/>
          <p:nvPr/>
        </p:nvSpPr>
        <p:spPr>
          <a:xfrm>
            <a:off x="4625661" y="5169991"/>
            <a:ext cx="6910810" cy="961827"/>
          </a:xfrm>
          <a:prstGeom prst="roundRect">
            <a:avLst>
              <a:gd name="adj" fmla="val 2810"/>
            </a:avLst>
          </a:prstGeom>
          <a:solidFill>
            <a:srgbClr val="ECE6DF"/>
          </a:solidFill>
          <a:ln/>
        </p:spPr>
      </p:sp>
      <p:pic>
        <p:nvPicPr>
          <p:cNvPr id="11" name="Image 1" descr="preencoded.png"/>
          <p:cNvPicPr>
            <a:picLocks noChangeAspect="1"/>
          </p:cNvPicPr>
          <p:nvPr/>
        </p:nvPicPr>
        <p:blipFill>
          <a:blip r:embed="rId4"/>
          <a:stretch>
            <a:fillRect/>
          </a:stretch>
        </p:blipFill>
        <p:spPr>
          <a:xfrm>
            <a:off x="4805738" y="5419427"/>
            <a:ext cx="225122" cy="180082"/>
          </a:xfrm>
          <a:prstGeom prst="rect">
            <a:avLst/>
          </a:prstGeom>
        </p:spPr>
      </p:pic>
      <p:sp>
        <p:nvSpPr>
          <p:cNvPr id="12" name="Text 8"/>
          <p:cNvSpPr/>
          <p:nvPr/>
        </p:nvSpPr>
        <p:spPr>
          <a:xfrm>
            <a:off x="5210938" y="5369421"/>
            <a:ext cx="6145456" cy="562967"/>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000000"/>
                </a:solidFill>
                <a:latin typeface="Gelasio" pitchFamily="34" charset="0"/>
                <a:ea typeface="Gelasio" pitchFamily="34" charset="-122"/>
                <a:cs typeface="Gelasio" pitchFamily="34" charset="-120"/>
              </a:rPr>
              <a:t>"Debug only the authentication module. Stop once you identify the root cause." — defines scope and stopping condition.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64952"/>
            <a:ext cx="10868745" cy="544513"/>
          </a:xfrm>
          <a:prstGeom prst="rect">
            <a:avLst/>
          </a:prstGeom>
          <a:noFill/>
          <a:ln/>
        </p:spPr>
        <p:txBody>
          <a:bodyPr wrap="none" lIns="0" tIns="0" rIns="0" bIns="0" rtlCol="0" anchor="t"/>
          <a:lstStyle/>
          <a:p>
            <a:pPr marL="0" indent="0" algn="l">
              <a:lnSpc>
                <a:spcPct val="104000"/>
              </a:lnSpc>
              <a:buNone/>
            </a:pPr>
            <a:r>
              <a:rPr lang="en-US" sz="3400" dirty="0">
                <a:solidFill>
                  <a:srgbClr val="484237"/>
                </a:solidFill>
                <a:latin typeface="Gelasio SemiBold" pitchFamily="34" charset="0"/>
                <a:ea typeface="Gelasio SemiBold" pitchFamily="34" charset="-122"/>
                <a:cs typeface="Gelasio SemiBold" pitchFamily="34" charset="-120"/>
              </a:rPr>
              <a:t>Understanding Reasoning Effort</a:t>
            </a:r>
            <a:endParaRPr lang="en-US" sz="3400" dirty="0"/>
          </a:p>
        </p:txBody>
      </p:sp>
      <p:pic>
        <p:nvPicPr>
          <p:cNvPr id="3" name="Image 0" descr="preencoded.png"/>
          <p:cNvPicPr>
            <a:picLocks noChangeAspect="1"/>
          </p:cNvPicPr>
          <p:nvPr/>
        </p:nvPicPr>
        <p:blipFill>
          <a:blip r:embed="rId3"/>
          <a:stretch>
            <a:fillRect/>
          </a:stretch>
        </p:blipFill>
        <p:spPr>
          <a:xfrm>
            <a:off x="661475" y="3681512"/>
            <a:ext cx="3527734" cy="280293"/>
          </a:xfrm>
          <a:prstGeom prst="rect">
            <a:avLst/>
          </a:prstGeom>
        </p:spPr>
      </p:pic>
      <p:sp>
        <p:nvSpPr>
          <p:cNvPr id="4" name="Text 1"/>
          <p:cNvSpPr/>
          <p:nvPr/>
        </p:nvSpPr>
        <p:spPr>
          <a:xfrm>
            <a:off x="4620601" y="1511002"/>
            <a:ext cx="6915870" cy="272157"/>
          </a:xfrm>
          <a:prstGeom prst="rect">
            <a:avLst/>
          </a:prstGeom>
          <a:noFill/>
          <a:ln/>
        </p:spPr>
        <p:txBody>
          <a:bodyPr wrap="none" lIns="0" tIns="0" rIns="0" bIns="0" rtlCol="0" anchor="t"/>
          <a:lstStyle/>
          <a:p>
            <a:pPr marL="0" indent="0" algn="l">
              <a:lnSpc>
                <a:spcPct val="104000"/>
              </a:lnSpc>
              <a:buNone/>
            </a:pPr>
            <a:r>
              <a:rPr lang="en-US" sz="1700" dirty="0">
                <a:solidFill>
                  <a:srgbClr val="484237"/>
                </a:solidFill>
                <a:latin typeface="Gelasio SemiBold" pitchFamily="34" charset="0"/>
                <a:ea typeface="Gelasio SemiBold" pitchFamily="34" charset="-122"/>
                <a:cs typeface="Gelasio SemiBold" pitchFamily="34" charset="-120"/>
              </a:rPr>
              <a:t>Definition</a:t>
            </a:r>
            <a:endParaRPr lang="en-US" sz="1700" dirty="0"/>
          </a:p>
        </p:txBody>
      </p:sp>
      <p:sp>
        <p:nvSpPr>
          <p:cNvPr id="5" name="Text 2"/>
          <p:cNvSpPr/>
          <p:nvPr/>
        </p:nvSpPr>
        <p:spPr>
          <a:xfrm>
            <a:off x="4620601" y="1943795"/>
            <a:ext cx="6915870" cy="535583"/>
          </a:xfrm>
          <a:prstGeom prst="rect">
            <a:avLst/>
          </a:prstGeom>
          <a:noFill/>
          <a:ln/>
        </p:spPr>
        <p:txBody>
          <a:bodyPr wrap="square" lIns="0" tIns="0" rIns="0" bIns="0" rtlCol="0" anchor="t">
            <a:normAutofit/>
          </a:bodyPr>
          <a:lstStyle/>
          <a:p>
            <a:pPr marL="0" indent="0" algn="l">
              <a:lnSpc>
                <a:spcPct val="128000"/>
              </a:lnSpc>
              <a:buNone/>
            </a:pPr>
            <a:r>
              <a:rPr lang="en-US" sz="1350" dirty="0">
                <a:solidFill>
                  <a:srgbClr val="746558"/>
                </a:solidFill>
                <a:latin typeface="Gelasio" pitchFamily="34" charset="0"/>
                <a:ea typeface="Gelasio" pitchFamily="34" charset="-122"/>
                <a:cs typeface="Gelasio" pitchFamily="34" charset="-120"/>
              </a:rPr>
              <a:t>How much deliberate analysis GPT-5 applies before responding—shaping the depth, accuracy, and completeness of the answer.</a:t>
            </a:r>
            <a:endParaRPr lang="en-US" sz="1350" dirty="0"/>
          </a:p>
        </p:txBody>
      </p:sp>
      <p:sp>
        <p:nvSpPr>
          <p:cNvPr id="6" name="Text 3"/>
          <p:cNvSpPr/>
          <p:nvPr/>
        </p:nvSpPr>
        <p:spPr>
          <a:xfrm>
            <a:off x="4620601" y="2640013"/>
            <a:ext cx="6915870" cy="272157"/>
          </a:xfrm>
          <a:prstGeom prst="rect">
            <a:avLst/>
          </a:prstGeom>
          <a:noFill/>
          <a:ln/>
        </p:spPr>
        <p:txBody>
          <a:bodyPr wrap="none" lIns="0" tIns="0" rIns="0" bIns="0" rtlCol="0" anchor="t"/>
          <a:lstStyle/>
          <a:p>
            <a:pPr marL="0" indent="0" algn="l">
              <a:lnSpc>
                <a:spcPct val="104000"/>
              </a:lnSpc>
              <a:buNone/>
            </a:pPr>
            <a:r>
              <a:rPr lang="en-US" sz="1700" dirty="0">
                <a:solidFill>
                  <a:srgbClr val="484237"/>
                </a:solidFill>
                <a:latin typeface="Gelasio SemiBold" pitchFamily="34" charset="0"/>
                <a:ea typeface="Gelasio SemiBold" pitchFamily="34" charset="-122"/>
                <a:cs typeface="Gelasio SemiBold" pitchFamily="34" charset="-120"/>
              </a:rPr>
              <a:t>Four Levels</a:t>
            </a:r>
            <a:endParaRPr lang="en-US" sz="1700" dirty="0"/>
          </a:p>
        </p:txBody>
      </p:sp>
      <p:sp>
        <p:nvSpPr>
          <p:cNvPr id="7" name="Shape 4"/>
          <p:cNvSpPr/>
          <p:nvPr/>
        </p:nvSpPr>
        <p:spPr>
          <a:xfrm>
            <a:off x="4620601" y="3092847"/>
            <a:ext cx="2198136" cy="1087140"/>
          </a:xfrm>
          <a:prstGeom prst="roundRect">
            <a:avLst>
              <a:gd name="adj" fmla="val 2404"/>
            </a:avLst>
          </a:prstGeom>
          <a:solidFill>
            <a:srgbClr val="F9F6F0"/>
          </a:solidFill>
          <a:ln w="19050">
            <a:solidFill>
              <a:srgbClr val="D4CEC3"/>
            </a:solidFill>
            <a:prstDash val="solid"/>
          </a:ln>
        </p:spPr>
      </p:sp>
      <p:sp>
        <p:nvSpPr>
          <p:cNvPr id="8" name="Text 5"/>
          <p:cNvSpPr/>
          <p:nvPr/>
        </p:nvSpPr>
        <p:spPr>
          <a:xfrm>
            <a:off x="4813874" y="3286125"/>
            <a:ext cx="1811590" cy="272157"/>
          </a:xfrm>
          <a:prstGeom prst="rect">
            <a:avLst/>
          </a:prstGeom>
          <a:noFill/>
          <a:ln/>
        </p:spPr>
        <p:txBody>
          <a:bodyPr wrap="none" lIns="0" tIns="0" rIns="0" bIns="0" rtlCol="0" anchor="t"/>
          <a:lstStyle/>
          <a:p>
            <a:pPr marL="0" indent="0" algn="l">
              <a:lnSpc>
                <a:spcPct val="104000"/>
              </a:lnSpc>
              <a:buNone/>
            </a:pPr>
            <a:r>
              <a:rPr lang="en-US" sz="1700" dirty="0">
                <a:solidFill>
                  <a:srgbClr val="746558"/>
                </a:solidFill>
                <a:latin typeface="Gelasio SemiBold" pitchFamily="34" charset="0"/>
                <a:ea typeface="Gelasio SemiBold" pitchFamily="34" charset="-122"/>
                <a:cs typeface="Gelasio SemiBold" pitchFamily="34" charset="-120"/>
              </a:rPr>
              <a:t>Minimal</a:t>
            </a:r>
            <a:endParaRPr lang="en-US" sz="1700" dirty="0"/>
          </a:p>
        </p:txBody>
      </p:sp>
      <p:sp>
        <p:nvSpPr>
          <p:cNvPr id="9" name="Shape 6"/>
          <p:cNvSpPr/>
          <p:nvPr/>
        </p:nvSpPr>
        <p:spPr>
          <a:xfrm>
            <a:off x="6979368" y="3092847"/>
            <a:ext cx="2198236" cy="1087140"/>
          </a:xfrm>
          <a:prstGeom prst="roundRect">
            <a:avLst>
              <a:gd name="adj" fmla="val 2404"/>
            </a:avLst>
          </a:prstGeom>
          <a:solidFill>
            <a:srgbClr val="F9F6F0"/>
          </a:solidFill>
          <a:ln w="19050">
            <a:solidFill>
              <a:srgbClr val="D4CEC3"/>
            </a:solidFill>
            <a:prstDash val="solid"/>
          </a:ln>
        </p:spPr>
      </p:sp>
      <p:sp>
        <p:nvSpPr>
          <p:cNvPr id="10" name="Text 7"/>
          <p:cNvSpPr/>
          <p:nvPr/>
        </p:nvSpPr>
        <p:spPr>
          <a:xfrm>
            <a:off x="7172642" y="3286125"/>
            <a:ext cx="1811689" cy="272157"/>
          </a:xfrm>
          <a:prstGeom prst="rect">
            <a:avLst/>
          </a:prstGeom>
          <a:noFill/>
          <a:ln/>
        </p:spPr>
        <p:txBody>
          <a:bodyPr wrap="none" lIns="0" tIns="0" rIns="0" bIns="0" rtlCol="0" anchor="t"/>
          <a:lstStyle/>
          <a:p>
            <a:pPr marL="0" indent="0" algn="l">
              <a:lnSpc>
                <a:spcPct val="104000"/>
              </a:lnSpc>
              <a:buNone/>
            </a:pPr>
            <a:r>
              <a:rPr lang="en-US" sz="1700" dirty="0">
                <a:solidFill>
                  <a:srgbClr val="746558"/>
                </a:solidFill>
                <a:latin typeface="Gelasio SemiBold" pitchFamily="34" charset="0"/>
                <a:ea typeface="Gelasio SemiBold" pitchFamily="34" charset="-122"/>
                <a:cs typeface="Gelasio SemiBold" pitchFamily="34" charset="-120"/>
              </a:rPr>
              <a:t>Low</a:t>
            </a:r>
            <a:endParaRPr lang="en-US" sz="1700" dirty="0"/>
          </a:p>
        </p:txBody>
      </p:sp>
      <p:sp>
        <p:nvSpPr>
          <p:cNvPr id="11" name="Shape 8"/>
          <p:cNvSpPr/>
          <p:nvPr/>
        </p:nvSpPr>
        <p:spPr>
          <a:xfrm>
            <a:off x="9338235" y="3092847"/>
            <a:ext cx="2198136" cy="1087140"/>
          </a:xfrm>
          <a:prstGeom prst="roundRect">
            <a:avLst>
              <a:gd name="adj" fmla="val 2404"/>
            </a:avLst>
          </a:prstGeom>
          <a:solidFill>
            <a:srgbClr val="F9F6F0"/>
          </a:solidFill>
          <a:ln w="19050">
            <a:solidFill>
              <a:srgbClr val="D4CEC3"/>
            </a:solidFill>
            <a:prstDash val="solid"/>
          </a:ln>
        </p:spPr>
      </p:sp>
      <p:sp>
        <p:nvSpPr>
          <p:cNvPr id="12" name="Text 9"/>
          <p:cNvSpPr/>
          <p:nvPr/>
        </p:nvSpPr>
        <p:spPr>
          <a:xfrm>
            <a:off x="9531508" y="3286125"/>
            <a:ext cx="1811590" cy="272157"/>
          </a:xfrm>
          <a:prstGeom prst="rect">
            <a:avLst/>
          </a:prstGeom>
          <a:noFill/>
          <a:ln/>
        </p:spPr>
        <p:txBody>
          <a:bodyPr wrap="none" lIns="0" tIns="0" rIns="0" bIns="0" rtlCol="0" anchor="t"/>
          <a:lstStyle/>
          <a:p>
            <a:pPr marL="0" indent="0" algn="l">
              <a:lnSpc>
                <a:spcPct val="104000"/>
              </a:lnSpc>
              <a:buNone/>
            </a:pPr>
            <a:r>
              <a:rPr lang="en-US" sz="1700" dirty="0">
                <a:solidFill>
                  <a:srgbClr val="746558"/>
                </a:solidFill>
                <a:latin typeface="Gelasio SemiBold" pitchFamily="34" charset="0"/>
                <a:ea typeface="Gelasio SemiBold" pitchFamily="34" charset="-122"/>
                <a:cs typeface="Gelasio SemiBold" pitchFamily="34" charset="-120"/>
              </a:rPr>
              <a:t>Medium</a:t>
            </a:r>
            <a:endParaRPr lang="en-US" sz="1700" dirty="0"/>
          </a:p>
        </p:txBody>
      </p:sp>
      <p:sp>
        <p:nvSpPr>
          <p:cNvPr id="13" name="Text 10"/>
          <p:cNvSpPr/>
          <p:nvPr/>
        </p:nvSpPr>
        <p:spPr>
          <a:xfrm>
            <a:off x="9531508" y="3718917"/>
            <a:ext cx="1811590" cy="267791"/>
          </a:xfrm>
          <a:prstGeom prst="rect">
            <a:avLst/>
          </a:prstGeom>
          <a:noFill/>
          <a:ln/>
        </p:spPr>
        <p:txBody>
          <a:bodyPr wrap="none" lIns="0" tIns="0" rIns="0" bIns="0" rtlCol="0" anchor="t"/>
          <a:lstStyle/>
          <a:p>
            <a:pPr marL="0" indent="0" algn="l">
              <a:lnSpc>
                <a:spcPct val="128000"/>
              </a:lnSpc>
              <a:buNone/>
            </a:pPr>
            <a:r>
              <a:rPr lang="en-US" sz="1350" dirty="0">
                <a:solidFill>
                  <a:srgbClr val="746558"/>
                </a:solidFill>
                <a:latin typeface="Gelasio" pitchFamily="34" charset="0"/>
                <a:ea typeface="Gelasio" pitchFamily="34" charset="-122"/>
                <a:cs typeface="Gelasio" pitchFamily="34" charset="-120"/>
              </a:rPr>
              <a:t>Default</a:t>
            </a:r>
            <a:endParaRPr lang="en-US" sz="1350" dirty="0"/>
          </a:p>
        </p:txBody>
      </p:sp>
      <p:sp>
        <p:nvSpPr>
          <p:cNvPr id="14" name="Shape 11"/>
          <p:cNvSpPr/>
          <p:nvPr/>
        </p:nvSpPr>
        <p:spPr>
          <a:xfrm>
            <a:off x="4620601" y="4340622"/>
            <a:ext cx="6915771" cy="658713"/>
          </a:xfrm>
          <a:prstGeom prst="roundRect">
            <a:avLst>
              <a:gd name="adj" fmla="val 3968"/>
            </a:avLst>
          </a:prstGeom>
          <a:solidFill>
            <a:srgbClr val="F9F6F0"/>
          </a:solidFill>
          <a:ln w="19050">
            <a:solidFill>
              <a:srgbClr val="D4CEC3"/>
            </a:solidFill>
            <a:prstDash val="solid"/>
          </a:ln>
        </p:spPr>
      </p:sp>
      <p:sp>
        <p:nvSpPr>
          <p:cNvPr id="15" name="Text 12"/>
          <p:cNvSpPr/>
          <p:nvPr/>
        </p:nvSpPr>
        <p:spPr>
          <a:xfrm>
            <a:off x="4813874" y="4533900"/>
            <a:ext cx="6529224" cy="272157"/>
          </a:xfrm>
          <a:prstGeom prst="rect">
            <a:avLst/>
          </a:prstGeom>
          <a:noFill/>
          <a:ln/>
        </p:spPr>
        <p:txBody>
          <a:bodyPr wrap="none" lIns="0" tIns="0" rIns="0" bIns="0" rtlCol="0" anchor="t"/>
          <a:lstStyle/>
          <a:p>
            <a:pPr marL="0" indent="0" algn="l">
              <a:lnSpc>
                <a:spcPct val="104000"/>
              </a:lnSpc>
              <a:buNone/>
            </a:pPr>
            <a:r>
              <a:rPr lang="en-US" sz="1700" dirty="0">
                <a:solidFill>
                  <a:srgbClr val="746558"/>
                </a:solidFill>
                <a:latin typeface="Gelasio SemiBold" pitchFamily="34" charset="0"/>
                <a:ea typeface="Gelasio SemiBold" pitchFamily="34" charset="-122"/>
                <a:cs typeface="Gelasio SemiBold" pitchFamily="34" charset="-120"/>
              </a:rPr>
              <a:t>High</a:t>
            </a:r>
            <a:endParaRPr lang="en-US" sz="1700" dirty="0"/>
          </a:p>
        </p:txBody>
      </p:sp>
      <p:sp>
        <p:nvSpPr>
          <p:cNvPr id="16" name="Text 13"/>
          <p:cNvSpPr/>
          <p:nvPr/>
        </p:nvSpPr>
        <p:spPr>
          <a:xfrm>
            <a:off x="4620601" y="5180013"/>
            <a:ext cx="6915870" cy="272157"/>
          </a:xfrm>
          <a:prstGeom prst="rect">
            <a:avLst/>
          </a:prstGeom>
          <a:noFill/>
          <a:ln/>
        </p:spPr>
        <p:txBody>
          <a:bodyPr wrap="none" lIns="0" tIns="0" rIns="0" bIns="0" rtlCol="0" anchor="t"/>
          <a:lstStyle/>
          <a:p>
            <a:pPr marL="0" indent="0" algn="l">
              <a:lnSpc>
                <a:spcPct val="104000"/>
              </a:lnSpc>
              <a:buNone/>
            </a:pPr>
            <a:r>
              <a:rPr lang="en-US" sz="1700" dirty="0">
                <a:solidFill>
                  <a:srgbClr val="484237"/>
                </a:solidFill>
                <a:latin typeface="Gelasio SemiBold" pitchFamily="34" charset="0"/>
                <a:ea typeface="Gelasio SemiBold" pitchFamily="34" charset="-122"/>
                <a:cs typeface="Gelasio SemiBold" pitchFamily="34" charset="-120"/>
              </a:rPr>
              <a:t>Balance</a:t>
            </a:r>
            <a:endParaRPr lang="en-US" sz="1700" dirty="0"/>
          </a:p>
        </p:txBody>
      </p:sp>
      <p:sp>
        <p:nvSpPr>
          <p:cNvPr id="17" name="Text 14"/>
          <p:cNvSpPr/>
          <p:nvPr/>
        </p:nvSpPr>
        <p:spPr>
          <a:xfrm>
            <a:off x="4620601" y="5612805"/>
            <a:ext cx="6915870" cy="535583"/>
          </a:xfrm>
          <a:prstGeom prst="rect">
            <a:avLst/>
          </a:prstGeom>
          <a:noFill/>
          <a:ln/>
        </p:spPr>
        <p:txBody>
          <a:bodyPr wrap="square" lIns="0" tIns="0" rIns="0" bIns="0" rtlCol="0" anchor="t">
            <a:normAutofit/>
          </a:bodyPr>
          <a:lstStyle/>
          <a:p>
            <a:pPr marL="0" indent="0" algn="l">
              <a:lnSpc>
                <a:spcPct val="128000"/>
              </a:lnSpc>
              <a:buNone/>
            </a:pPr>
            <a:r>
              <a:rPr lang="en-US" sz="1350" dirty="0">
                <a:solidFill>
                  <a:srgbClr val="746558"/>
                </a:solidFill>
                <a:latin typeface="Gelasio" pitchFamily="34" charset="0"/>
                <a:ea typeface="Gelasio" pitchFamily="34" charset="-122"/>
                <a:cs typeface="Gelasio" pitchFamily="34" charset="-120"/>
              </a:rPr>
              <a:t>Use the lightest effort that still delivers a reliable result. Low effort is faster for simple tasks; higher effort is better for complex problems, edge cases, or high-stakes decisions.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716756"/>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484237"/>
                </a:solidFill>
                <a:latin typeface="Gelasio SemiBold" pitchFamily="34" charset="0"/>
                <a:ea typeface="Gelasio SemiBold" pitchFamily="34" charset="-122"/>
                <a:cs typeface="Gelasio SemiBold" pitchFamily="34" charset="-120"/>
              </a:rPr>
              <a:t>Understanding Clarity of Instructions</a:t>
            </a:r>
            <a:endParaRPr lang="en-US" sz="3700" dirty="0"/>
          </a:p>
        </p:txBody>
      </p:sp>
      <p:pic>
        <p:nvPicPr>
          <p:cNvPr id="3" name="Image 0" descr="preencoded.png"/>
          <p:cNvPicPr>
            <a:picLocks noChangeAspect="1"/>
          </p:cNvPicPr>
          <p:nvPr/>
        </p:nvPicPr>
        <p:blipFill>
          <a:blip r:embed="rId3"/>
          <a:stretch>
            <a:fillRect/>
          </a:stretch>
        </p:blipFill>
        <p:spPr>
          <a:xfrm>
            <a:off x="661475" y="2170509"/>
            <a:ext cx="3390914" cy="3390999"/>
          </a:xfrm>
          <a:prstGeom prst="rect">
            <a:avLst/>
          </a:prstGeom>
        </p:spPr>
      </p:pic>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519896" y="1803499"/>
            <a:ext cx="2212820" cy="1820366"/>
          </a:xfrm>
          <a:prstGeom prst="rect">
            <a:avLst/>
          </a:prstGeom>
        </p:spPr>
      </p:pic>
      <p:sp>
        <p:nvSpPr>
          <p:cNvPr id="5" name="Text 1"/>
          <p:cNvSpPr/>
          <p:nvPr/>
        </p:nvSpPr>
        <p:spPr>
          <a:xfrm>
            <a:off x="4835900" y="2017911"/>
            <a:ext cx="1682410" cy="295275"/>
          </a:xfrm>
          <a:prstGeom prst="rect">
            <a:avLst/>
          </a:prstGeom>
          <a:noFill/>
          <a:ln/>
        </p:spPr>
        <p:txBody>
          <a:bodyPr wrap="none" lIns="0" tIns="0" rIns="0" bIns="0" rtlCol="0" anchor="t"/>
          <a:lstStyle/>
          <a:p>
            <a:pPr marL="0" indent="0" algn="l">
              <a:lnSpc>
                <a:spcPct val="104000"/>
              </a:lnSpc>
              <a:buNone/>
            </a:pPr>
            <a:r>
              <a:rPr lang="en-US" sz="1850" dirty="0">
                <a:solidFill>
                  <a:srgbClr val="746558"/>
                </a:solidFill>
                <a:latin typeface="Gelasio SemiBold" pitchFamily="34" charset="0"/>
                <a:ea typeface="Gelasio SemiBold" pitchFamily="34" charset="-122"/>
                <a:cs typeface="Gelasio SemiBold" pitchFamily="34" charset="-120"/>
              </a:rPr>
              <a:t>Task</a:t>
            </a:r>
            <a:endParaRPr lang="en-US" sz="1850" dirty="0"/>
          </a:p>
        </p:txBody>
      </p:sp>
      <p:sp>
        <p:nvSpPr>
          <p:cNvPr id="6" name="Text 2"/>
          <p:cNvSpPr/>
          <p:nvPr/>
        </p:nvSpPr>
        <p:spPr>
          <a:xfrm>
            <a:off x="4835900" y="2502198"/>
            <a:ext cx="1682410"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746558"/>
                </a:solidFill>
                <a:latin typeface="Gelasio" pitchFamily="34" charset="0"/>
                <a:ea typeface="Gelasio" pitchFamily="34" charset="-122"/>
                <a:cs typeface="Gelasio" pitchFamily="34" charset="-120"/>
              </a:rPr>
              <a:t>What exactly should GPT-5 do?</a:t>
            </a:r>
            <a:endParaRPr lang="en-US" sz="1450" dirty="0"/>
          </a:p>
        </p:txBody>
      </p:sp>
      <p:pic>
        <p:nvPicPr>
          <p:cNvPr id="7"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21724" y="1803499"/>
            <a:ext cx="2212820" cy="1820366"/>
          </a:xfrm>
          <a:prstGeom prst="rect">
            <a:avLst/>
          </a:prstGeom>
        </p:spPr>
      </p:pic>
      <p:sp>
        <p:nvSpPr>
          <p:cNvPr id="8" name="Text 3"/>
          <p:cNvSpPr/>
          <p:nvPr/>
        </p:nvSpPr>
        <p:spPr>
          <a:xfrm>
            <a:off x="7237728" y="2017911"/>
            <a:ext cx="1682410" cy="295275"/>
          </a:xfrm>
          <a:prstGeom prst="rect">
            <a:avLst/>
          </a:prstGeom>
          <a:noFill/>
          <a:ln/>
        </p:spPr>
        <p:txBody>
          <a:bodyPr wrap="none" lIns="0" tIns="0" rIns="0" bIns="0" rtlCol="0" anchor="t"/>
          <a:lstStyle/>
          <a:p>
            <a:pPr marL="0" indent="0" algn="l">
              <a:lnSpc>
                <a:spcPct val="104000"/>
              </a:lnSpc>
              <a:buNone/>
            </a:pPr>
            <a:r>
              <a:rPr lang="en-US" sz="1850" dirty="0">
                <a:solidFill>
                  <a:srgbClr val="746558"/>
                </a:solidFill>
                <a:latin typeface="Gelasio SemiBold" pitchFamily="34" charset="0"/>
                <a:ea typeface="Gelasio SemiBold" pitchFamily="34" charset="-122"/>
                <a:cs typeface="Gelasio SemiBold" pitchFamily="34" charset="-120"/>
              </a:rPr>
              <a:t>Context</a:t>
            </a:r>
            <a:endParaRPr lang="en-US" sz="1850" dirty="0"/>
          </a:p>
        </p:txBody>
      </p:sp>
      <p:sp>
        <p:nvSpPr>
          <p:cNvPr id="9" name="Text 4"/>
          <p:cNvSpPr/>
          <p:nvPr/>
        </p:nvSpPr>
        <p:spPr>
          <a:xfrm>
            <a:off x="7237728" y="2502198"/>
            <a:ext cx="1682410"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746558"/>
                </a:solidFill>
                <a:latin typeface="Gelasio" pitchFamily="34" charset="0"/>
                <a:ea typeface="Gelasio" pitchFamily="34" charset="-122"/>
                <a:cs typeface="Gelasio" pitchFamily="34" charset="-120"/>
              </a:rPr>
              <a:t>Background information to guide the response.</a:t>
            </a:r>
            <a:endParaRPr lang="en-US" sz="1450" dirty="0"/>
          </a:p>
        </p:txBody>
      </p:sp>
      <p:pic>
        <p:nvPicPr>
          <p:cNvPr id="10"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23551" y="1803499"/>
            <a:ext cx="2212820" cy="1820366"/>
          </a:xfrm>
          <a:prstGeom prst="rect">
            <a:avLst/>
          </a:prstGeom>
        </p:spPr>
      </p:pic>
      <p:sp>
        <p:nvSpPr>
          <p:cNvPr id="11" name="Text 5"/>
          <p:cNvSpPr/>
          <p:nvPr/>
        </p:nvSpPr>
        <p:spPr>
          <a:xfrm>
            <a:off x="9639555" y="2017911"/>
            <a:ext cx="1682410" cy="295275"/>
          </a:xfrm>
          <a:prstGeom prst="rect">
            <a:avLst/>
          </a:prstGeom>
          <a:noFill/>
          <a:ln/>
        </p:spPr>
        <p:txBody>
          <a:bodyPr wrap="none" lIns="0" tIns="0" rIns="0" bIns="0" rtlCol="0" anchor="t"/>
          <a:lstStyle/>
          <a:p>
            <a:pPr marL="0" indent="0" algn="l">
              <a:lnSpc>
                <a:spcPct val="104000"/>
              </a:lnSpc>
              <a:buNone/>
            </a:pPr>
            <a:r>
              <a:rPr lang="en-US" sz="1850" dirty="0">
                <a:solidFill>
                  <a:srgbClr val="746558"/>
                </a:solidFill>
                <a:latin typeface="Gelasio SemiBold" pitchFamily="34" charset="0"/>
                <a:ea typeface="Gelasio SemiBold" pitchFamily="34" charset="-122"/>
                <a:cs typeface="Gelasio SemiBold" pitchFamily="34" charset="-120"/>
              </a:rPr>
              <a:t>Constraints</a:t>
            </a:r>
            <a:endParaRPr lang="en-US" sz="1850" dirty="0"/>
          </a:p>
        </p:txBody>
      </p:sp>
      <p:sp>
        <p:nvSpPr>
          <p:cNvPr id="12" name="Text 6"/>
          <p:cNvSpPr/>
          <p:nvPr/>
        </p:nvSpPr>
        <p:spPr>
          <a:xfrm>
            <a:off x="9639555" y="2502198"/>
            <a:ext cx="1682410"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746558"/>
                </a:solidFill>
                <a:latin typeface="Gelasio" pitchFamily="34" charset="0"/>
                <a:ea typeface="Gelasio" pitchFamily="34" charset="-122"/>
                <a:cs typeface="Gelasio" pitchFamily="34" charset="-120"/>
              </a:rPr>
              <a:t>Boundaries, scope, and limitations to enforce.</a:t>
            </a:r>
            <a:endParaRPr lang="en-US" sz="1450" dirty="0"/>
          </a:p>
        </p:txBody>
      </p:sp>
      <p:pic>
        <p:nvPicPr>
          <p:cNvPr id="13" name="Image 4"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519896" y="3812877"/>
            <a:ext cx="2212820" cy="2115641"/>
          </a:xfrm>
          <a:prstGeom prst="rect">
            <a:avLst/>
          </a:prstGeom>
        </p:spPr>
      </p:pic>
      <p:sp>
        <p:nvSpPr>
          <p:cNvPr id="14" name="Text 7"/>
          <p:cNvSpPr/>
          <p:nvPr/>
        </p:nvSpPr>
        <p:spPr>
          <a:xfrm>
            <a:off x="4835900" y="4027289"/>
            <a:ext cx="1682410"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746558"/>
                </a:solidFill>
                <a:latin typeface="Gelasio SemiBold" pitchFamily="34" charset="0"/>
                <a:ea typeface="Gelasio SemiBold" pitchFamily="34" charset="-122"/>
                <a:cs typeface="Gelasio SemiBold" pitchFamily="34" charset="-120"/>
              </a:rPr>
              <a:t>Output Format</a:t>
            </a:r>
            <a:endParaRPr lang="en-US" sz="1850" dirty="0"/>
          </a:p>
        </p:txBody>
      </p:sp>
      <p:sp>
        <p:nvSpPr>
          <p:cNvPr id="15" name="Text 8"/>
          <p:cNvSpPr/>
          <p:nvPr/>
        </p:nvSpPr>
        <p:spPr>
          <a:xfrm>
            <a:off x="4835900" y="4806851"/>
            <a:ext cx="1682410"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746558"/>
                </a:solidFill>
                <a:latin typeface="Gelasio" pitchFamily="34" charset="0"/>
                <a:ea typeface="Gelasio" pitchFamily="34" charset="-122"/>
                <a:cs typeface="Gelasio" pitchFamily="34" charset="-120"/>
              </a:rPr>
              <a:t>Define how the answer should be structured.</a:t>
            </a:r>
            <a:endParaRPr lang="en-US" sz="1450" dirty="0"/>
          </a:p>
        </p:txBody>
      </p:sp>
      <p:pic>
        <p:nvPicPr>
          <p:cNvPr id="16" name="Image 5"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921724" y="3812877"/>
            <a:ext cx="2212820" cy="2115641"/>
          </a:xfrm>
          <a:prstGeom prst="rect">
            <a:avLst/>
          </a:prstGeom>
        </p:spPr>
      </p:pic>
      <p:sp>
        <p:nvSpPr>
          <p:cNvPr id="17" name="Text 9"/>
          <p:cNvSpPr/>
          <p:nvPr/>
        </p:nvSpPr>
        <p:spPr>
          <a:xfrm>
            <a:off x="7237728" y="4027289"/>
            <a:ext cx="1682410"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746558"/>
                </a:solidFill>
                <a:latin typeface="Gelasio SemiBold" pitchFamily="34" charset="0"/>
                <a:ea typeface="Gelasio SemiBold" pitchFamily="34" charset="-122"/>
                <a:cs typeface="Gelasio SemiBold" pitchFamily="34" charset="-120"/>
              </a:rPr>
              <a:t>Success Criteria</a:t>
            </a:r>
            <a:endParaRPr lang="en-US" sz="1850" dirty="0"/>
          </a:p>
        </p:txBody>
      </p:sp>
      <p:sp>
        <p:nvSpPr>
          <p:cNvPr id="18" name="Text 10"/>
          <p:cNvSpPr/>
          <p:nvPr/>
        </p:nvSpPr>
        <p:spPr>
          <a:xfrm>
            <a:off x="7237728" y="4806851"/>
            <a:ext cx="1682410"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746558"/>
                </a:solidFill>
                <a:latin typeface="Gelasio" pitchFamily="34" charset="0"/>
                <a:ea typeface="Gelasio" pitchFamily="34" charset="-122"/>
                <a:cs typeface="Gelasio" pitchFamily="34" charset="-120"/>
              </a:rPr>
              <a:t>Define what a correct, complete response looks like.</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25066"/>
            <a:ext cx="10868745" cy="489148"/>
          </a:xfrm>
          <a:prstGeom prst="rect">
            <a:avLst/>
          </a:prstGeom>
          <a:noFill/>
          <a:ln/>
        </p:spPr>
        <p:txBody>
          <a:bodyPr wrap="none" lIns="0" tIns="0" rIns="0" bIns="0" rtlCol="0" anchor="t"/>
          <a:lstStyle/>
          <a:p>
            <a:pPr marL="0" indent="0" algn="l">
              <a:lnSpc>
                <a:spcPct val="104000"/>
              </a:lnSpc>
              <a:buNone/>
            </a:pPr>
            <a:r>
              <a:rPr lang="en-US" sz="3050" dirty="0">
                <a:solidFill>
                  <a:srgbClr val="484237"/>
                </a:solidFill>
                <a:latin typeface="Gelasio SemiBold" pitchFamily="34" charset="0"/>
                <a:ea typeface="Gelasio SemiBold" pitchFamily="34" charset="-122"/>
                <a:cs typeface="Gelasio SemiBold" pitchFamily="34" charset="-120"/>
              </a:rPr>
              <a:t>The Balance Between Three Principles</a:t>
            </a:r>
            <a:endParaRPr lang="en-US" sz="3050" dirty="0"/>
          </a:p>
        </p:txBody>
      </p:sp>
      <p:pic>
        <p:nvPicPr>
          <p:cNvPr id="3" name="Image 0" descr="preencoded.png"/>
          <p:cNvPicPr>
            <a:picLocks noChangeAspect="1"/>
          </p:cNvPicPr>
          <p:nvPr/>
        </p:nvPicPr>
        <p:blipFill>
          <a:blip r:embed="rId3"/>
          <a:stretch>
            <a:fillRect/>
          </a:stretch>
        </p:blipFill>
        <p:spPr>
          <a:xfrm>
            <a:off x="661475" y="1354336"/>
            <a:ext cx="3555812" cy="3555901"/>
          </a:xfrm>
          <a:prstGeom prst="rect">
            <a:avLst/>
          </a:prstGeom>
        </p:spPr>
      </p:pic>
      <p:sp>
        <p:nvSpPr>
          <p:cNvPr id="4" name="Text 1"/>
          <p:cNvSpPr/>
          <p:nvPr/>
        </p:nvSpPr>
        <p:spPr>
          <a:xfrm>
            <a:off x="4605421" y="2837259"/>
            <a:ext cx="6931050" cy="244574"/>
          </a:xfrm>
          <a:prstGeom prst="rect">
            <a:avLst/>
          </a:prstGeom>
          <a:noFill/>
          <a:ln/>
        </p:spPr>
        <p:txBody>
          <a:bodyPr wrap="none" lIns="0" tIns="0" rIns="0" bIns="0" rtlCol="0" anchor="t"/>
          <a:lstStyle/>
          <a:p>
            <a:pPr marL="0" indent="0" algn="l">
              <a:lnSpc>
                <a:spcPct val="104000"/>
              </a:lnSpc>
              <a:buNone/>
            </a:pPr>
            <a:r>
              <a:rPr lang="en-US" sz="1500" dirty="0">
                <a:solidFill>
                  <a:srgbClr val="484237"/>
                </a:solidFill>
                <a:latin typeface="Gelasio SemiBold" pitchFamily="34" charset="0"/>
                <a:ea typeface="Gelasio SemiBold" pitchFamily="34" charset="-122"/>
                <a:cs typeface="Gelasio SemiBold" pitchFamily="34" charset="-120"/>
              </a:rPr>
              <a:t>Always Set Intentionally</a:t>
            </a:r>
            <a:endParaRPr lang="en-US" sz="1500" dirty="0"/>
          </a:p>
        </p:txBody>
      </p:sp>
      <p:sp>
        <p:nvSpPr>
          <p:cNvPr id="5" name="Text 2"/>
          <p:cNvSpPr/>
          <p:nvPr/>
        </p:nvSpPr>
        <p:spPr>
          <a:xfrm>
            <a:off x="4605421" y="3211413"/>
            <a:ext cx="7540635" cy="228898"/>
          </a:xfrm>
          <a:prstGeom prst="rect">
            <a:avLst/>
          </a:prstGeom>
          <a:noFill/>
          <a:ln/>
        </p:spPr>
        <p:txBody>
          <a:bodyPr wrap="none" lIns="0" tIns="0" rIns="0" bIns="0" rtlCol="0" anchor="t"/>
          <a:lstStyle/>
          <a:p>
            <a:pPr marL="0" indent="0" algn="l">
              <a:lnSpc>
                <a:spcPct val="122000"/>
              </a:lnSpc>
              <a:buNone/>
            </a:pPr>
            <a:r>
              <a:rPr lang="en-US" sz="1200" dirty="0">
                <a:solidFill>
                  <a:srgbClr val="746558"/>
                </a:solidFill>
                <a:latin typeface="Gelasio" pitchFamily="34" charset="0"/>
                <a:ea typeface="Gelasio" pitchFamily="34" charset="-122"/>
                <a:cs typeface="Gelasio" pitchFamily="34" charset="-120"/>
              </a:rPr>
              <a:t>Balanced prompts set all three intentionally for focused, efficient behaviour.</a:t>
            </a:r>
            <a:endParaRPr lang="en-US" sz="1200" dirty="0"/>
          </a:p>
        </p:txBody>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5201741"/>
            <a:ext cx="3536465" cy="1131094"/>
          </a:xfrm>
          <a:prstGeom prst="rect">
            <a:avLst/>
          </a:prstGeom>
        </p:spPr>
      </p:pic>
      <p:sp>
        <p:nvSpPr>
          <p:cNvPr id="7" name="Text 3"/>
          <p:cNvSpPr/>
          <p:nvPr/>
        </p:nvSpPr>
        <p:spPr>
          <a:xfrm>
            <a:off x="913187" y="5377259"/>
            <a:ext cx="3109239" cy="244574"/>
          </a:xfrm>
          <a:prstGeom prst="rect">
            <a:avLst/>
          </a:prstGeom>
          <a:noFill/>
          <a:ln/>
        </p:spPr>
        <p:txBody>
          <a:bodyPr wrap="none" lIns="0" tIns="0" rIns="0" bIns="0" rtlCol="0" anchor="t"/>
          <a:lstStyle/>
          <a:p>
            <a:pPr marL="0" indent="0" algn="l">
              <a:lnSpc>
                <a:spcPct val="104000"/>
              </a:lnSpc>
              <a:buNone/>
            </a:pPr>
            <a:r>
              <a:rPr lang="en-US" sz="1500" dirty="0">
                <a:solidFill>
                  <a:srgbClr val="746558"/>
                </a:solidFill>
                <a:latin typeface="Gelasio SemiBold" pitchFamily="34" charset="0"/>
                <a:ea typeface="Gelasio SemiBold" pitchFamily="34" charset="-122"/>
                <a:cs typeface="Gelasio SemiBold" pitchFamily="34" charset="-120"/>
              </a:rPr>
              <a:t>Clarity</a:t>
            </a:r>
            <a:endParaRPr lang="en-US" sz="1500" dirty="0"/>
          </a:p>
        </p:txBody>
      </p:sp>
      <p:sp>
        <p:nvSpPr>
          <p:cNvPr id="8" name="Text 4"/>
          <p:cNvSpPr/>
          <p:nvPr/>
        </p:nvSpPr>
        <p:spPr>
          <a:xfrm>
            <a:off x="913187" y="5699522"/>
            <a:ext cx="3109239" cy="457795"/>
          </a:xfrm>
          <a:prstGeom prst="rect">
            <a:avLst/>
          </a:prstGeom>
          <a:noFill/>
          <a:ln/>
        </p:spPr>
        <p:txBody>
          <a:bodyPr wrap="square" lIns="0" tIns="0" rIns="0" bIns="0" rtlCol="0" anchor="t">
            <a:normAutofit/>
          </a:bodyPr>
          <a:lstStyle/>
          <a:p>
            <a:pPr marL="0" indent="0" algn="l">
              <a:lnSpc>
                <a:spcPct val="122000"/>
              </a:lnSpc>
              <a:buNone/>
            </a:pPr>
            <a:r>
              <a:rPr lang="en-US" sz="1200" dirty="0">
                <a:solidFill>
                  <a:srgbClr val="746558"/>
                </a:solidFill>
                <a:latin typeface="Gelasio" pitchFamily="34" charset="0"/>
                <a:ea typeface="Gelasio" pitchFamily="34" charset="-122"/>
                <a:cs typeface="Gelasio" pitchFamily="34" charset="-120"/>
              </a:rPr>
              <a:t>Always </a:t>
            </a:r>
            <a:r>
              <a:rPr lang="en-US" sz="1200" b="1" dirty="0">
                <a:solidFill>
                  <a:srgbClr val="746558"/>
                </a:solidFill>
                <a:latin typeface="Gelasio Bold" pitchFamily="34" charset="0"/>
                <a:ea typeface="Gelasio Bold" pitchFamily="34" charset="-122"/>
                <a:cs typeface="Gelasio Bold" pitchFamily="34" charset="-120"/>
              </a:rPr>
              <a:t>high</a:t>
            </a:r>
            <a:r>
              <a:rPr lang="en-US" sz="1200" dirty="0">
                <a:solidFill>
                  <a:srgbClr val="746558"/>
                </a:solidFill>
                <a:latin typeface="Gelasio" pitchFamily="34" charset="0"/>
                <a:ea typeface="Gelasio" pitchFamily="34" charset="-122"/>
                <a:cs typeface="Gelasio" pitchFamily="34" charset="-120"/>
              </a:rPr>
              <a:t> — gives direction and anchors the response.</a:t>
            </a:r>
            <a:endParaRPr lang="en-US" sz="1200" dirty="0"/>
          </a:p>
        </p:txBody>
      </p:sp>
      <p:pic>
        <p:nvPicPr>
          <p:cNvPr id="9"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27516" y="5201741"/>
            <a:ext cx="3536564" cy="1131094"/>
          </a:xfrm>
          <a:prstGeom prst="rect">
            <a:avLst/>
          </a:prstGeom>
        </p:spPr>
      </p:pic>
      <p:sp>
        <p:nvSpPr>
          <p:cNvPr id="10" name="Text 5"/>
          <p:cNvSpPr/>
          <p:nvPr/>
        </p:nvSpPr>
        <p:spPr>
          <a:xfrm>
            <a:off x="4579228" y="5377259"/>
            <a:ext cx="3109339" cy="244574"/>
          </a:xfrm>
          <a:prstGeom prst="rect">
            <a:avLst/>
          </a:prstGeom>
          <a:noFill/>
          <a:ln/>
        </p:spPr>
        <p:txBody>
          <a:bodyPr wrap="none" lIns="0" tIns="0" rIns="0" bIns="0" rtlCol="0" anchor="t"/>
          <a:lstStyle/>
          <a:p>
            <a:pPr marL="0" indent="0" algn="l">
              <a:lnSpc>
                <a:spcPct val="104000"/>
              </a:lnSpc>
              <a:buNone/>
            </a:pPr>
            <a:r>
              <a:rPr lang="en-US" sz="1500" dirty="0">
                <a:solidFill>
                  <a:srgbClr val="746558"/>
                </a:solidFill>
                <a:latin typeface="Gelasio SemiBold" pitchFamily="34" charset="0"/>
                <a:ea typeface="Gelasio SemiBold" pitchFamily="34" charset="-122"/>
                <a:cs typeface="Gelasio SemiBold" pitchFamily="34" charset="-120"/>
              </a:rPr>
              <a:t>Reasoning Effort</a:t>
            </a:r>
            <a:endParaRPr lang="en-US" sz="1500" dirty="0"/>
          </a:p>
        </p:txBody>
      </p:sp>
      <p:sp>
        <p:nvSpPr>
          <p:cNvPr id="11" name="Text 6"/>
          <p:cNvSpPr/>
          <p:nvPr/>
        </p:nvSpPr>
        <p:spPr>
          <a:xfrm>
            <a:off x="4579228" y="5699522"/>
            <a:ext cx="3109339" cy="457795"/>
          </a:xfrm>
          <a:prstGeom prst="rect">
            <a:avLst/>
          </a:prstGeom>
          <a:noFill/>
          <a:ln/>
        </p:spPr>
        <p:txBody>
          <a:bodyPr wrap="square" lIns="0" tIns="0" rIns="0" bIns="0" rtlCol="0" anchor="t">
            <a:normAutofit/>
          </a:bodyPr>
          <a:lstStyle/>
          <a:p>
            <a:pPr marL="0" indent="0" algn="l">
              <a:lnSpc>
                <a:spcPct val="122000"/>
              </a:lnSpc>
              <a:buNone/>
            </a:pPr>
            <a:r>
              <a:rPr lang="en-US" sz="1200" dirty="0">
                <a:solidFill>
                  <a:srgbClr val="746558"/>
                </a:solidFill>
                <a:latin typeface="Gelasio" pitchFamily="34" charset="0"/>
                <a:ea typeface="Gelasio" pitchFamily="34" charset="-122"/>
                <a:cs typeface="Gelasio" pitchFamily="34" charset="-120"/>
              </a:rPr>
              <a:t>Adjust to </a:t>
            </a:r>
            <a:r>
              <a:rPr lang="en-US" sz="1200" b="1" dirty="0">
                <a:solidFill>
                  <a:srgbClr val="746558"/>
                </a:solidFill>
                <a:latin typeface="Gelasio Bold" pitchFamily="34" charset="0"/>
                <a:ea typeface="Gelasio Bold" pitchFamily="34" charset="-122"/>
                <a:cs typeface="Gelasio Bold" pitchFamily="34" charset="-120"/>
              </a:rPr>
              <a:t>task complexity</a:t>
            </a:r>
            <a:r>
              <a:rPr lang="en-US" sz="1200" dirty="0">
                <a:solidFill>
                  <a:srgbClr val="746558"/>
                </a:solidFill>
                <a:latin typeface="Gelasio" pitchFamily="34" charset="0"/>
                <a:ea typeface="Gelasio" pitchFamily="34" charset="-122"/>
                <a:cs typeface="Gelasio" pitchFamily="34" charset="-120"/>
              </a:rPr>
              <a:t> — more for multi-step problems.</a:t>
            </a:r>
            <a:endParaRPr lang="en-US" sz="1200" dirty="0"/>
          </a:p>
        </p:txBody>
      </p:sp>
      <p:pic>
        <p:nvPicPr>
          <p:cNvPr id="12"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93656" y="5201741"/>
            <a:ext cx="3536465" cy="1131094"/>
          </a:xfrm>
          <a:prstGeom prst="rect">
            <a:avLst/>
          </a:prstGeom>
        </p:spPr>
      </p:pic>
      <p:sp>
        <p:nvSpPr>
          <p:cNvPr id="13" name="Text 7"/>
          <p:cNvSpPr/>
          <p:nvPr/>
        </p:nvSpPr>
        <p:spPr>
          <a:xfrm>
            <a:off x="8245368" y="5377259"/>
            <a:ext cx="3109239" cy="244574"/>
          </a:xfrm>
          <a:prstGeom prst="rect">
            <a:avLst/>
          </a:prstGeom>
          <a:noFill/>
          <a:ln/>
        </p:spPr>
        <p:txBody>
          <a:bodyPr wrap="none" lIns="0" tIns="0" rIns="0" bIns="0" rtlCol="0" anchor="t"/>
          <a:lstStyle/>
          <a:p>
            <a:pPr marL="0" indent="0" algn="l">
              <a:lnSpc>
                <a:spcPct val="104000"/>
              </a:lnSpc>
              <a:buNone/>
            </a:pPr>
            <a:r>
              <a:rPr lang="en-US" sz="1500" dirty="0">
                <a:solidFill>
                  <a:srgbClr val="746558"/>
                </a:solidFill>
                <a:latin typeface="Gelasio SemiBold" pitchFamily="34" charset="0"/>
                <a:ea typeface="Gelasio SemiBold" pitchFamily="34" charset="-122"/>
                <a:cs typeface="Gelasio SemiBold" pitchFamily="34" charset="-120"/>
              </a:rPr>
              <a:t>Agentic Eagerness</a:t>
            </a:r>
            <a:endParaRPr lang="en-US" sz="1500" dirty="0"/>
          </a:p>
        </p:txBody>
      </p:sp>
      <p:sp>
        <p:nvSpPr>
          <p:cNvPr id="14" name="Text 8"/>
          <p:cNvSpPr/>
          <p:nvPr/>
        </p:nvSpPr>
        <p:spPr>
          <a:xfrm>
            <a:off x="8245368" y="5699522"/>
            <a:ext cx="3109239" cy="457795"/>
          </a:xfrm>
          <a:prstGeom prst="rect">
            <a:avLst/>
          </a:prstGeom>
          <a:noFill/>
          <a:ln/>
        </p:spPr>
        <p:txBody>
          <a:bodyPr wrap="square" lIns="0" tIns="0" rIns="0" bIns="0" rtlCol="0" anchor="t">
            <a:normAutofit/>
          </a:bodyPr>
          <a:lstStyle/>
          <a:p>
            <a:pPr marL="0" indent="0" algn="l">
              <a:lnSpc>
                <a:spcPct val="122000"/>
              </a:lnSpc>
              <a:buNone/>
            </a:pPr>
            <a:r>
              <a:rPr lang="en-US" sz="1200" dirty="0">
                <a:solidFill>
                  <a:srgbClr val="746558"/>
                </a:solidFill>
                <a:latin typeface="Gelasio" pitchFamily="34" charset="0"/>
                <a:ea typeface="Gelasio" pitchFamily="34" charset="-122"/>
                <a:cs typeface="Gelasio" pitchFamily="34" charset="-120"/>
              </a:rPr>
              <a:t>Calibrate to </a:t>
            </a:r>
            <a:r>
              <a:rPr lang="en-US" sz="1200" b="1" dirty="0">
                <a:solidFill>
                  <a:srgbClr val="746558"/>
                </a:solidFill>
                <a:latin typeface="Gelasio Bold" pitchFamily="34" charset="0"/>
                <a:ea typeface="Gelasio Bold" pitchFamily="34" charset="-122"/>
                <a:cs typeface="Gelasio Bold" pitchFamily="34" charset="-120"/>
              </a:rPr>
              <a:t>desired autonomy</a:t>
            </a:r>
            <a:r>
              <a:rPr lang="en-US" sz="1200" dirty="0">
                <a:solidFill>
                  <a:srgbClr val="746558"/>
                </a:solidFill>
                <a:latin typeface="Gelasio" pitchFamily="34" charset="0"/>
                <a:ea typeface="Gelasio" pitchFamily="34" charset="-122"/>
                <a:cs typeface="Gelasio" pitchFamily="34" charset="-120"/>
              </a:rPr>
              <a:t> — avoid unnecessary actions.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771227"/>
            <a:ext cx="10868745" cy="572195"/>
          </a:xfrm>
          <a:prstGeom prst="rect">
            <a:avLst/>
          </a:prstGeom>
          <a:noFill/>
          <a:ln/>
        </p:spPr>
        <p:txBody>
          <a:bodyPr wrap="none" lIns="0" tIns="0" rIns="0" bIns="0" rtlCol="0" anchor="t"/>
          <a:lstStyle/>
          <a:p>
            <a:pPr marL="0" indent="0" algn="l">
              <a:lnSpc>
                <a:spcPct val="104000"/>
              </a:lnSpc>
              <a:buNone/>
            </a:pPr>
            <a:r>
              <a:rPr lang="en-US" sz="3600" dirty="0">
                <a:solidFill>
                  <a:srgbClr val="484237"/>
                </a:solidFill>
                <a:latin typeface="Gelasio SemiBold" pitchFamily="34" charset="0"/>
                <a:ea typeface="Gelasio SemiBold" pitchFamily="34" charset="-122"/>
                <a:cs typeface="Gelasio SemiBold" pitchFamily="34" charset="-120"/>
              </a:rPr>
              <a:t>Multi-Step Reasoning: Climate Change Example</a:t>
            </a:r>
            <a:endParaRPr lang="en-US" sz="3600" dirty="0"/>
          </a:p>
        </p:txBody>
      </p:sp>
      <p:sp>
        <p:nvSpPr>
          <p:cNvPr id="3" name="Shape 1"/>
          <p:cNvSpPr/>
          <p:nvPr/>
        </p:nvSpPr>
        <p:spPr>
          <a:xfrm>
            <a:off x="529616" y="1609427"/>
            <a:ext cx="4908923" cy="4477246"/>
          </a:xfrm>
          <a:prstGeom prst="roundRect">
            <a:avLst>
              <a:gd name="adj" fmla="val 613"/>
            </a:avLst>
          </a:prstGeom>
          <a:solidFill>
            <a:srgbClr val="D3C5B6"/>
          </a:solidFill>
          <a:ln/>
        </p:spPr>
      </p:sp>
      <p:sp>
        <p:nvSpPr>
          <p:cNvPr id="4" name="Text 2"/>
          <p:cNvSpPr/>
          <p:nvPr/>
        </p:nvSpPr>
        <p:spPr>
          <a:xfrm>
            <a:off x="712670" y="1786731"/>
            <a:ext cx="4542815" cy="292398"/>
          </a:xfrm>
          <a:prstGeom prst="rect">
            <a:avLst/>
          </a:prstGeom>
          <a:noFill/>
          <a:ln/>
        </p:spPr>
        <p:txBody>
          <a:bodyPr wrap="none" lIns="0" tIns="0" rIns="0" bIns="0" rtlCol="0" anchor="t"/>
          <a:lstStyle/>
          <a:p>
            <a:pPr marL="0" indent="0" algn="l">
              <a:lnSpc>
                <a:spcPct val="104000"/>
              </a:lnSpc>
              <a:buNone/>
            </a:pPr>
            <a:r>
              <a:rPr lang="en-US" sz="1800" dirty="0">
                <a:solidFill>
                  <a:srgbClr val="484237"/>
                </a:solidFill>
                <a:latin typeface="Gelasio SemiBold" pitchFamily="34" charset="0"/>
                <a:ea typeface="Gelasio SemiBold" pitchFamily="34" charset="-122"/>
                <a:cs typeface="Gelasio SemiBold" pitchFamily="34" charset="-120"/>
              </a:rPr>
              <a:t>Weak Prompt </a:t>
            </a:r>
            <a:r>
              <a:rPr lang="en-US" sz="1800" dirty="0">
                <a:solidFill>
                  <a:srgbClr val="000000"/>
                </a:solidFill>
                <a:latin typeface="Twemoji Mozilla" pitchFamily="34" charset="0"/>
                <a:ea typeface="Twemoji Mozilla" pitchFamily="34" charset="-122"/>
                <a:cs typeface="Twemoji Mozilla" pitchFamily="34" charset="-120"/>
              </a:rPr>
              <a:t>❌</a:t>
            </a:r>
            <a:endParaRPr lang="en-US" sz="1800" dirty="0"/>
          </a:p>
        </p:txBody>
      </p:sp>
      <p:sp>
        <p:nvSpPr>
          <p:cNvPr id="5" name="Text 3"/>
          <p:cNvSpPr/>
          <p:nvPr/>
        </p:nvSpPr>
        <p:spPr>
          <a:xfrm>
            <a:off x="712670" y="2256433"/>
            <a:ext cx="4542815" cy="1024930"/>
          </a:xfrm>
          <a:prstGeom prst="rect">
            <a:avLst/>
          </a:prstGeom>
          <a:noFill/>
          <a:ln/>
        </p:spPr>
        <p:txBody>
          <a:bodyPr wrap="square" lIns="0" tIns="0" rIns="0" bIns="0" rtlCol="0" anchor="t"/>
          <a:lstStyle/>
          <a:p>
            <a:pPr marL="0" indent="0" algn="l">
              <a:lnSpc>
                <a:spcPct val="131000"/>
              </a:lnSpc>
              <a:spcAft>
                <a:spcPts val="1250"/>
              </a:spcAft>
              <a:buNone/>
            </a:pPr>
            <a:r>
              <a:rPr lang="en-US" sz="1400" dirty="0">
                <a:solidFill>
                  <a:srgbClr val="000000"/>
                </a:solidFill>
                <a:latin typeface="Gelasio" pitchFamily="34" charset="0"/>
                <a:ea typeface="Gelasio" pitchFamily="34" charset="-122"/>
                <a:cs typeface="Gelasio" pitchFamily="34" charset="-120"/>
              </a:rPr>
              <a:t>"Solve climate change."</a:t>
            </a:r>
            <a:endParaRPr lang="en-US" sz="1400" dirty="0"/>
          </a:p>
          <a:p>
            <a:pPr marL="0" indent="0" algn="l">
              <a:lnSpc>
                <a:spcPct val="131000"/>
              </a:lnSpc>
              <a:buNone/>
            </a:pPr>
            <a:r>
              <a:rPr lang="en-US" sz="1400" dirty="0">
                <a:solidFill>
                  <a:srgbClr val="000000"/>
                </a:solidFill>
                <a:latin typeface="Gelasio" pitchFamily="34" charset="0"/>
                <a:ea typeface="Gelasio" pitchFamily="34" charset="-122"/>
                <a:cs typeface="Gelasio" pitchFamily="34" charset="-120"/>
              </a:rPr>
              <a:t>Vague, impossible to scope, and gives GPT-5 no direction on depth, format, or audience.</a:t>
            </a:r>
            <a:endParaRPr lang="en-US" sz="1400" dirty="0"/>
          </a:p>
        </p:txBody>
      </p:sp>
      <p:sp>
        <p:nvSpPr>
          <p:cNvPr id="6" name="Text 4"/>
          <p:cNvSpPr/>
          <p:nvPr/>
        </p:nvSpPr>
        <p:spPr>
          <a:xfrm>
            <a:off x="5759703" y="1786731"/>
            <a:ext cx="5776768" cy="292398"/>
          </a:xfrm>
          <a:prstGeom prst="rect">
            <a:avLst/>
          </a:prstGeom>
          <a:noFill/>
          <a:ln/>
        </p:spPr>
        <p:txBody>
          <a:bodyPr wrap="none" lIns="0" tIns="0" rIns="0" bIns="0" rtlCol="0" anchor="t"/>
          <a:lstStyle/>
          <a:p>
            <a:pPr marL="0" indent="0" algn="l">
              <a:lnSpc>
                <a:spcPct val="104000"/>
              </a:lnSpc>
              <a:buNone/>
            </a:pPr>
            <a:r>
              <a:rPr lang="en-US" sz="1800" dirty="0">
                <a:solidFill>
                  <a:srgbClr val="484237"/>
                </a:solidFill>
                <a:latin typeface="Gelasio SemiBold" pitchFamily="34" charset="0"/>
                <a:ea typeface="Gelasio SemiBold" pitchFamily="34" charset="-122"/>
                <a:cs typeface="Gelasio SemiBold" pitchFamily="34" charset="-120"/>
              </a:rPr>
              <a:t>Better Prompt </a:t>
            </a:r>
            <a:r>
              <a:rPr lang="en-US" sz="1800" dirty="0">
                <a:solidFill>
                  <a:srgbClr val="000000"/>
                </a:solidFill>
                <a:latin typeface="Twemoji Mozilla" pitchFamily="34" charset="0"/>
                <a:ea typeface="Twemoji Mozilla" pitchFamily="34" charset="-122"/>
                <a:cs typeface="Twemoji Mozilla" pitchFamily="34" charset="-120"/>
              </a:rPr>
              <a:t>✅</a:t>
            </a:r>
            <a:endParaRPr lang="en-US" sz="1800" dirty="0"/>
          </a:p>
        </p:txBody>
      </p:sp>
      <p:sp>
        <p:nvSpPr>
          <p:cNvPr id="7" name="Text 5"/>
          <p:cNvSpPr/>
          <p:nvPr/>
        </p:nvSpPr>
        <p:spPr>
          <a:xfrm>
            <a:off x="5759703" y="2256433"/>
            <a:ext cx="6386353" cy="288429"/>
          </a:xfrm>
          <a:prstGeom prst="rect">
            <a:avLst/>
          </a:prstGeom>
          <a:noFill/>
          <a:ln/>
        </p:spPr>
        <p:txBody>
          <a:bodyPr wrap="none" lIns="0" tIns="0" rIns="0" bIns="0" rtlCol="0" anchor="t"/>
          <a:lstStyle/>
          <a:p>
            <a:pPr marL="0" indent="0" algn="l">
              <a:lnSpc>
                <a:spcPct val="131000"/>
              </a:lnSpc>
              <a:buNone/>
            </a:pPr>
            <a:r>
              <a:rPr lang="en-US" sz="1400" dirty="0">
                <a:solidFill>
                  <a:srgbClr val="746558"/>
                </a:solidFill>
                <a:latin typeface="Gelasio" pitchFamily="34" charset="0"/>
                <a:ea typeface="Gelasio" pitchFamily="34" charset="-122"/>
                <a:cs typeface="Gelasio" pitchFamily="34" charset="-120"/>
              </a:rPr>
              <a:t>"Analyse climate change adaptation for Uganda:"</a:t>
            </a:r>
            <a:endParaRPr lang="en-US" sz="1400" dirty="0"/>
          </a:p>
        </p:txBody>
      </p:sp>
      <p:sp>
        <p:nvSpPr>
          <p:cNvPr id="8" name="Text 6"/>
          <p:cNvSpPr/>
          <p:nvPr/>
        </p:nvSpPr>
        <p:spPr>
          <a:xfrm>
            <a:off x="5759703" y="2704505"/>
            <a:ext cx="5776768" cy="1339751"/>
          </a:xfrm>
          <a:prstGeom prst="rect">
            <a:avLst/>
          </a:prstGeom>
          <a:noFill/>
          <a:ln/>
        </p:spPr>
        <p:txBody>
          <a:bodyPr wrap="square" lIns="0" tIns="0" rIns="0" bIns="0" rtlCol="0" anchor="t">
            <a:normAutofit/>
          </a:bodyPr>
          <a:lstStyle/>
          <a:p>
            <a:pPr marL="284480" indent="-284480" algn="l">
              <a:lnSpc>
                <a:spcPct val="131000"/>
              </a:lnSpc>
              <a:buSzPct val="100000"/>
              <a:buFont typeface="+mj-lt"/>
              <a:buAutoNum type="arabicPeriod"/>
            </a:pPr>
            <a:r>
              <a:rPr lang="en-US" sz="1400" dirty="0">
                <a:solidFill>
                  <a:srgbClr val="746558"/>
                </a:solidFill>
                <a:latin typeface="Gelasio" pitchFamily="34" charset="0"/>
                <a:ea typeface="Gelasio" pitchFamily="34" charset="-122"/>
                <a:cs typeface="Gelasio" pitchFamily="34" charset="-120"/>
              </a:rPr>
              <a:t>Explain the primary causes</a:t>
            </a:r>
            <a:endParaRPr lang="en-US" sz="1400" dirty="0"/>
          </a:p>
          <a:p>
            <a:pPr marL="284480" indent="-284480" algn="l">
              <a:lnSpc>
                <a:spcPct val="131000"/>
              </a:lnSpc>
              <a:buSzPct val="100000"/>
              <a:buFont typeface="+mj-lt"/>
              <a:buAutoNum type="arabicPeriod" startAt="2"/>
            </a:pPr>
            <a:r>
              <a:rPr lang="en-US" sz="1400" dirty="0">
                <a:solidFill>
                  <a:srgbClr val="746558"/>
                </a:solidFill>
                <a:latin typeface="Gelasio" pitchFamily="34" charset="0"/>
                <a:ea typeface="Gelasio" pitchFamily="34" charset="-122"/>
                <a:cs typeface="Gelasio" pitchFamily="34" charset="-120"/>
              </a:rPr>
              <a:t>Compare three adaptation methods</a:t>
            </a:r>
            <a:endParaRPr lang="en-US" sz="1400" dirty="0"/>
          </a:p>
          <a:p>
            <a:pPr marL="284480" indent="-284480" algn="l">
              <a:lnSpc>
                <a:spcPct val="131000"/>
              </a:lnSpc>
              <a:buSzPct val="100000"/>
              <a:buFont typeface="+mj-lt"/>
              <a:buAutoNum type="arabicPeriod" startAt="3"/>
            </a:pPr>
            <a:r>
              <a:rPr lang="en-US" sz="1400" dirty="0">
                <a:solidFill>
                  <a:srgbClr val="746558"/>
                </a:solidFill>
                <a:latin typeface="Gelasio" pitchFamily="34" charset="0"/>
                <a:ea typeface="Gelasio" pitchFamily="34" charset="-122"/>
                <a:cs typeface="Gelasio" pitchFamily="34" charset="-120"/>
              </a:rPr>
              <a:t>Evaluate their impact on local communities</a:t>
            </a:r>
            <a:endParaRPr lang="en-US" sz="1400" dirty="0"/>
          </a:p>
          <a:p>
            <a:pPr marL="284480" indent="-284480" algn="l">
              <a:lnSpc>
                <a:spcPct val="131000"/>
              </a:lnSpc>
              <a:buSzPct val="100000"/>
              <a:buFont typeface="+mj-lt"/>
              <a:buAutoNum type="arabicPeriod" startAt="4"/>
            </a:pPr>
            <a:r>
              <a:rPr lang="en-US" sz="1400" dirty="0">
                <a:solidFill>
                  <a:srgbClr val="746558"/>
                </a:solidFill>
                <a:latin typeface="Gelasio" pitchFamily="34" charset="0"/>
                <a:ea typeface="Gelasio" pitchFamily="34" charset="-122"/>
                <a:cs typeface="Gelasio" pitchFamily="34" charset="-120"/>
              </a:rPr>
              <a:t>Recommend the best strategy for smallholder farmers</a:t>
            </a:r>
            <a:endParaRPr lang="en-US" sz="1400" dirty="0"/>
          </a:p>
        </p:txBody>
      </p:sp>
      <p:sp>
        <p:nvSpPr>
          <p:cNvPr id="9" name="Text 7"/>
          <p:cNvSpPr/>
          <p:nvPr/>
        </p:nvSpPr>
        <p:spPr>
          <a:xfrm>
            <a:off x="5759703" y="4221559"/>
            <a:ext cx="5776768" cy="286048"/>
          </a:xfrm>
          <a:prstGeom prst="rect">
            <a:avLst/>
          </a:prstGeom>
          <a:noFill/>
          <a:ln/>
        </p:spPr>
        <p:txBody>
          <a:bodyPr wrap="none" lIns="0" tIns="0" rIns="0" bIns="0" rtlCol="0" anchor="t"/>
          <a:lstStyle/>
          <a:p>
            <a:pPr marL="0" indent="0" algn="l">
              <a:lnSpc>
                <a:spcPct val="104000"/>
              </a:lnSpc>
              <a:buNone/>
            </a:pPr>
            <a:r>
              <a:rPr lang="en-US" sz="1800" dirty="0">
                <a:solidFill>
                  <a:srgbClr val="484237"/>
                </a:solidFill>
                <a:latin typeface="Gelasio SemiBold" pitchFamily="34" charset="0"/>
                <a:ea typeface="Gelasio SemiBold" pitchFamily="34" charset="-122"/>
                <a:cs typeface="Gelasio SemiBold" pitchFamily="34" charset="-120"/>
              </a:rPr>
              <a:t>Why It Works</a:t>
            </a:r>
            <a:endParaRPr lang="en-US" sz="1800" dirty="0"/>
          </a:p>
        </p:txBody>
      </p:sp>
      <p:sp>
        <p:nvSpPr>
          <p:cNvPr id="10" name="Text 8"/>
          <p:cNvSpPr/>
          <p:nvPr/>
        </p:nvSpPr>
        <p:spPr>
          <a:xfrm>
            <a:off x="5759703" y="4684911"/>
            <a:ext cx="5776768" cy="1339751"/>
          </a:xfrm>
          <a:prstGeom prst="rect">
            <a:avLst/>
          </a:prstGeom>
          <a:noFill/>
          <a:ln/>
        </p:spPr>
        <p:txBody>
          <a:bodyPr wrap="square" lIns="0" tIns="0" rIns="0" bIns="0" rtlCol="0" anchor="t">
            <a:normAutofit/>
          </a:bodyPr>
          <a:lstStyle/>
          <a:p>
            <a:pPr marL="284480" indent="-284480" algn="l">
              <a:lnSpc>
                <a:spcPct val="131000"/>
              </a:lnSpc>
              <a:buSzPct val="100000"/>
              <a:buChar char="•"/>
            </a:pPr>
            <a:r>
              <a:rPr lang="en-US" sz="1400" dirty="0">
                <a:solidFill>
                  <a:srgbClr val="746558"/>
                </a:solidFill>
                <a:latin typeface="Gelasio" pitchFamily="34" charset="0"/>
                <a:ea typeface="Gelasio" pitchFamily="34" charset="-122"/>
                <a:cs typeface="Gelasio" pitchFamily="34" charset="-120"/>
              </a:rPr>
              <a:t>Tasks are ordered and scoped</a:t>
            </a:r>
            <a:endParaRPr lang="en-US" sz="1400" dirty="0"/>
          </a:p>
          <a:p>
            <a:pPr marL="284480" indent="-284480" algn="l">
              <a:lnSpc>
                <a:spcPct val="131000"/>
              </a:lnSpc>
              <a:buSzPct val="100000"/>
              <a:buChar char="•"/>
            </a:pPr>
            <a:r>
              <a:rPr lang="en-US" sz="1400" dirty="0">
                <a:solidFill>
                  <a:srgbClr val="746558"/>
                </a:solidFill>
                <a:latin typeface="Gelasio" pitchFamily="34" charset="0"/>
                <a:ea typeface="Gelasio" pitchFamily="34" charset="-122"/>
                <a:cs typeface="Gelasio" pitchFamily="34" charset="-120"/>
              </a:rPr>
              <a:t>Output format is defined</a:t>
            </a:r>
            <a:endParaRPr lang="en-US" sz="1400" dirty="0"/>
          </a:p>
          <a:p>
            <a:pPr marL="284480" indent="-284480" algn="l">
              <a:lnSpc>
                <a:spcPct val="131000"/>
              </a:lnSpc>
              <a:buSzPct val="100000"/>
              <a:buChar char="•"/>
            </a:pPr>
            <a:r>
              <a:rPr lang="en-US" sz="1400" dirty="0">
                <a:solidFill>
                  <a:srgbClr val="746558"/>
                </a:solidFill>
                <a:latin typeface="Gelasio" pitchFamily="34" charset="0"/>
                <a:ea typeface="Gelasio" pitchFamily="34" charset="-122"/>
                <a:cs typeface="Gelasio" pitchFamily="34" charset="-120"/>
              </a:rPr>
              <a:t>Success criteria are explicit</a:t>
            </a:r>
            <a:endParaRPr lang="en-US" sz="1400" dirty="0"/>
          </a:p>
          <a:p>
            <a:pPr marL="284480" indent="-284480" algn="l">
              <a:lnSpc>
                <a:spcPct val="131000"/>
              </a:lnSpc>
              <a:buSzPct val="100000"/>
              <a:buChar char="•"/>
            </a:pPr>
            <a:r>
              <a:rPr lang="en-US" sz="1400" dirty="0">
                <a:solidFill>
                  <a:srgbClr val="746558"/>
                </a:solidFill>
                <a:latin typeface="Gelasio" pitchFamily="34" charset="0"/>
                <a:ea typeface="Gelasio" pitchFamily="34" charset="-122"/>
                <a:cs typeface="Gelasio" pitchFamily="34" charset="-120"/>
              </a:rPr>
              <a:t>Logical reasoning flow is enforced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24867"/>
            <a:ext cx="10868745"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484237"/>
                </a:solidFill>
                <a:latin typeface="Gelasio SemiBold" pitchFamily="34" charset="0"/>
                <a:ea typeface="Gelasio SemiBold" pitchFamily="34" charset="-122"/>
                <a:cs typeface="Gelasio SemiBold" pitchFamily="34" charset="-120"/>
              </a:rPr>
              <a:t>Expected GPT-5 Behaviour: Good vs Poor Prompts</a:t>
            </a:r>
            <a:endParaRPr lang="en-US" sz="3700" dirty="0"/>
          </a:p>
        </p:txBody>
      </p:sp>
      <p:sp>
        <p:nvSpPr>
          <p:cNvPr id="3" name="Shape 1"/>
          <p:cNvSpPr/>
          <p:nvPr/>
        </p:nvSpPr>
        <p:spPr>
          <a:xfrm>
            <a:off x="525350" y="1989634"/>
            <a:ext cx="5476043" cy="2224286"/>
          </a:xfrm>
          <a:prstGeom prst="roundRect">
            <a:avLst>
              <a:gd name="adj" fmla="val 1275"/>
            </a:avLst>
          </a:prstGeom>
          <a:solidFill>
            <a:srgbClr val="F3EBDD"/>
          </a:solidFill>
          <a:ln/>
        </p:spPr>
      </p:sp>
      <p:sp>
        <p:nvSpPr>
          <p:cNvPr id="4" name="Shape 2"/>
          <p:cNvSpPr/>
          <p:nvPr/>
        </p:nvSpPr>
        <p:spPr>
          <a:xfrm>
            <a:off x="714357" y="2202259"/>
            <a:ext cx="1322751" cy="287139"/>
          </a:xfrm>
          <a:prstGeom prst="roundRect">
            <a:avLst>
              <a:gd name="adj" fmla="val 7899"/>
            </a:avLst>
          </a:prstGeom>
          <a:solidFill>
            <a:srgbClr val="ECE6DF"/>
          </a:solidFill>
          <a:ln/>
        </p:spPr>
      </p:sp>
      <p:sp>
        <p:nvSpPr>
          <p:cNvPr id="5" name="Text 3"/>
          <p:cNvSpPr/>
          <p:nvPr/>
        </p:nvSpPr>
        <p:spPr>
          <a:xfrm>
            <a:off x="827761" y="2258913"/>
            <a:ext cx="1705528" cy="173831"/>
          </a:xfrm>
          <a:prstGeom prst="rect">
            <a:avLst/>
          </a:prstGeom>
          <a:noFill/>
          <a:ln/>
        </p:spPr>
        <p:txBody>
          <a:bodyPr wrap="none" lIns="0" tIns="0" rIns="0" bIns="0" rtlCol="0" anchor="t"/>
          <a:lstStyle/>
          <a:p>
            <a:pPr marL="0" indent="0" algn="l">
              <a:lnSpc>
                <a:spcPct val="96000"/>
              </a:lnSpc>
              <a:buNone/>
            </a:pPr>
            <a:r>
              <a:rPr lang="en-US" sz="1150" dirty="0">
                <a:solidFill>
                  <a:srgbClr val="000000"/>
                </a:solidFill>
                <a:latin typeface="Gelasio" pitchFamily="34" charset="0"/>
                <a:ea typeface="Gelasio" pitchFamily="34" charset="-122"/>
                <a:cs typeface="Gelasio" pitchFamily="34" charset="-120"/>
              </a:rPr>
              <a:t>POOR PROMPT</a:t>
            </a:r>
            <a:endParaRPr lang="en-US" sz="1150" dirty="0"/>
          </a:p>
        </p:txBody>
      </p:sp>
      <p:sp>
        <p:nvSpPr>
          <p:cNvPr id="6" name="Text 4"/>
          <p:cNvSpPr/>
          <p:nvPr/>
        </p:nvSpPr>
        <p:spPr>
          <a:xfrm>
            <a:off x="714357" y="2565003"/>
            <a:ext cx="5098029" cy="354409"/>
          </a:xfrm>
          <a:prstGeom prst="rect">
            <a:avLst/>
          </a:prstGeom>
          <a:noFill/>
          <a:ln/>
        </p:spPr>
        <p:txBody>
          <a:bodyPr wrap="none" lIns="0" tIns="0" rIns="0" bIns="0" rtlCol="0" anchor="t"/>
          <a:lstStyle/>
          <a:p>
            <a:pPr marL="0" indent="0" algn="l">
              <a:lnSpc>
                <a:spcPct val="104000"/>
              </a:lnSpc>
              <a:buNone/>
            </a:pPr>
            <a:r>
              <a:rPr lang="en-US" sz="2200" dirty="0">
                <a:solidFill>
                  <a:srgbClr val="484237"/>
                </a:solidFill>
                <a:latin typeface="Gelasio SemiBold" pitchFamily="34" charset="0"/>
                <a:ea typeface="Gelasio SemiBold" pitchFamily="34" charset="-122"/>
                <a:cs typeface="Gelasio SemiBold" pitchFamily="34" charset="-120"/>
              </a:rPr>
              <a:t>Poor Prompt</a:t>
            </a:r>
            <a:endParaRPr lang="en-US" sz="2200" dirty="0"/>
          </a:p>
        </p:txBody>
      </p:sp>
      <p:sp>
        <p:nvSpPr>
          <p:cNvPr id="7" name="Text 5"/>
          <p:cNvSpPr/>
          <p:nvPr/>
        </p:nvSpPr>
        <p:spPr>
          <a:xfrm>
            <a:off x="714357" y="3108424"/>
            <a:ext cx="5098029" cy="1039416"/>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000000"/>
                </a:solidFill>
                <a:latin typeface="Gelasio" pitchFamily="34" charset="0"/>
                <a:ea typeface="Gelasio" pitchFamily="34" charset="-122"/>
                <a:cs typeface="Gelasio" pitchFamily="34" charset="-120"/>
              </a:rPr>
              <a:t>Generic answer with missing steps</a:t>
            </a:r>
            <a:endParaRPr lang="en-US" sz="1450" dirty="0"/>
          </a:p>
          <a:p>
            <a:pPr marL="294640" indent="-294640" algn="l">
              <a:lnSpc>
                <a:spcPct val="133000"/>
              </a:lnSpc>
              <a:buSzPct val="100000"/>
              <a:buChar char="•"/>
            </a:pPr>
            <a:r>
              <a:rPr lang="en-US" sz="1450" dirty="0">
                <a:solidFill>
                  <a:srgbClr val="000000"/>
                </a:solidFill>
                <a:latin typeface="Gelasio" pitchFamily="34" charset="0"/>
                <a:ea typeface="Gelasio" pitchFamily="34" charset="-122"/>
                <a:cs typeface="Gelasio" pitchFamily="34" charset="-120"/>
              </a:rPr>
              <a:t>Shallow or unnecessarily verbose reasoning</a:t>
            </a:r>
            <a:endParaRPr lang="en-US" sz="1450" dirty="0"/>
          </a:p>
          <a:p>
            <a:pPr marL="294640" indent="-294640" algn="l">
              <a:lnSpc>
                <a:spcPct val="133000"/>
              </a:lnSpc>
              <a:buSzPct val="100000"/>
              <a:buChar char="•"/>
            </a:pPr>
            <a:r>
              <a:rPr lang="en-US" sz="1450" dirty="0">
                <a:solidFill>
                  <a:srgbClr val="000000"/>
                </a:solidFill>
                <a:latin typeface="Gelasio" pitchFamily="34" charset="0"/>
                <a:ea typeface="Gelasio" pitchFamily="34" charset="-122"/>
                <a:cs typeface="Gelasio" pitchFamily="34" charset="-120"/>
              </a:rPr>
              <a:t>Inconsistent and unpredictable format</a:t>
            </a:r>
            <a:endParaRPr lang="en-US" sz="1450" dirty="0"/>
          </a:p>
        </p:txBody>
      </p:sp>
      <p:sp>
        <p:nvSpPr>
          <p:cNvPr id="8" name="Shape 6"/>
          <p:cNvSpPr/>
          <p:nvPr/>
        </p:nvSpPr>
        <p:spPr>
          <a:xfrm>
            <a:off x="6332776" y="2202259"/>
            <a:ext cx="1347357" cy="287139"/>
          </a:xfrm>
          <a:prstGeom prst="roundRect">
            <a:avLst>
              <a:gd name="adj" fmla="val 7899"/>
            </a:avLst>
          </a:prstGeom>
          <a:solidFill>
            <a:srgbClr val="ECE6DF"/>
          </a:solidFill>
          <a:ln/>
        </p:spPr>
      </p:sp>
      <p:sp>
        <p:nvSpPr>
          <p:cNvPr id="9" name="Text 7"/>
          <p:cNvSpPr/>
          <p:nvPr/>
        </p:nvSpPr>
        <p:spPr>
          <a:xfrm>
            <a:off x="6446180" y="2258913"/>
            <a:ext cx="1730133" cy="173831"/>
          </a:xfrm>
          <a:prstGeom prst="rect">
            <a:avLst/>
          </a:prstGeom>
          <a:noFill/>
          <a:ln/>
        </p:spPr>
        <p:txBody>
          <a:bodyPr wrap="none" lIns="0" tIns="0" rIns="0" bIns="0" rtlCol="0" anchor="t"/>
          <a:lstStyle/>
          <a:p>
            <a:pPr marL="0" indent="0" algn="l">
              <a:lnSpc>
                <a:spcPct val="96000"/>
              </a:lnSpc>
              <a:buNone/>
            </a:pPr>
            <a:r>
              <a:rPr lang="en-US" sz="1150" dirty="0">
                <a:solidFill>
                  <a:srgbClr val="746558"/>
                </a:solidFill>
                <a:latin typeface="Gelasio" pitchFamily="34" charset="0"/>
                <a:ea typeface="Gelasio" pitchFamily="34" charset="-122"/>
                <a:cs typeface="Gelasio" pitchFamily="34" charset="-120"/>
              </a:rPr>
              <a:t>GOOD PROMPT</a:t>
            </a:r>
            <a:endParaRPr lang="en-US" sz="1150" dirty="0"/>
          </a:p>
        </p:txBody>
      </p:sp>
      <p:sp>
        <p:nvSpPr>
          <p:cNvPr id="10" name="Text 8"/>
          <p:cNvSpPr/>
          <p:nvPr/>
        </p:nvSpPr>
        <p:spPr>
          <a:xfrm>
            <a:off x="6332776" y="2565003"/>
            <a:ext cx="5203794" cy="354409"/>
          </a:xfrm>
          <a:prstGeom prst="rect">
            <a:avLst/>
          </a:prstGeom>
          <a:noFill/>
          <a:ln/>
        </p:spPr>
        <p:txBody>
          <a:bodyPr wrap="none" lIns="0" tIns="0" rIns="0" bIns="0" rtlCol="0" anchor="t"/>
          <a:lstStyle/>
          <a:p>
            <a:pPr marL="0" indent="0" algn="l">
              <a:lnSpc>
                <a:spcPct val="104000"/>
              </a:lnSpc>
              <a:buNone/>
            </a:pPr>
            <a:r>
              <a:rPr lang="en-US" sz="2200" dirty="0">
                <a:solidFill>
                  <a:srgbClr val="484237"/>
                </a:solidFill>
                <a:latin typeface="Gelasio SemiBold" pitchFamily="34" charset="0"/>
                <a:ea typeface="Gelasio SemiBold" pitchFamily="34" charset="-122"/>
                <a:cs typeface="Gelasio SemiBold" pitchFamily="34" charset="-120"/>
              </a:rPr>
              <a:t>Good Prompt</a:t>
            </a:r>
            <a:endParaRPr lang="en-US" sz="2200" dirty="0"/>
          </a:p>
        </p:txBody>
      </p:sp>
      <p:sp>
        <p:nvSpPr>
          <p:cNvPr id="11" name="Text 9"/>
          <p:cNvSpPr/>
          <p:nvPr/>
        </p:nvSpPr>
        <p:spPr>
          <a:xfrm>
            <a:off x="6332776" y="3108424"/>
            <a:ext cx="5203794" cy="1039416"/>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746558"/>
                </a:solidFill>
                <a:latin typeface="Gelasio" pitchFamily="34" charset="0"/>
                <a:ea typeface="Gelasio" pitchFamily="34" charset="-122"/>
                <a:cs typeface="Gelasio" pitchFamily="34" charset="-120"/>
              </a:rPr>
              <a:t>Structured explanation with complete workflow</a:t>
            </a:r>
            <a:endParaRPr lang="en-US" sz="1450" dirty="0"/>
          </a:p>
          <a:p>
            <a:pPr marL="294640" indent="-294640" algn="l">
              <a:lnSpc>
                <a:spcPct val="133000"/>
              </a:lnSpc>
              <a:buSzPct val="100000"/>
              <a:buChar char="•"/>
            </a:pPr>
            <a:r>
              <a:rPr lang="en-US" sz="1450" dirty="0">
                <a:solidFill>
                  <a:srgbClr val="746558"/>
                </a:solidFill>
                <a:latin typeface="Gelasio" pitchFamily="34" charset="0"/>
                <a:ea typeface="Gelasio" pitchFamily="34" charset="-122"/>
                <a:cs typeface="Gelasio" pitchFamily="34" charset="-120"/>
              </a:rPr>
              <a:t>Appropriate reasoning depth</a:t>
            </a:r>
            <a:endParaRPr lang="en-US" sz="1450" dirty="0"/>
          </a:p>
          <a:p>
            <a:pPr marL="294640" indent="-294640" algn="l">
              <a:lnSpc>
                <a:spcPct val="133000"/>
              </a:lnSpc>
              <a:buSzPct val="100000"/>
              <a:buChar char="•"/>
            </a:pPr>
            <a:r>
              <a:rPr lang="en-US" sz="1450" dirty="0">
                <a:solidFill>
                  <a:srgbClr val="746558"/>
                </a:solidFill>
                <a:latin typeface="Gelasio" pitchFamily="34" charset="0"/>
                <a:ea typeface="Gelasio" pitchFamily="34" charset="-122"/>
                <a:cs typeface="Gelasio" pitchFamily="34" charset="-120"/>
              </a:rPr>
              <a:t>Predictable, consistent format</a:t>
            </a:r>
            <a:endParaRPr lang="en-US" sz="1450" dirty="0"/>
          </a:p>
        </p:txBody>
      </p:sp>
      <p:sp>
        <p:nvSpPr>
          <p:cNvPr id="12" name="Shape 10"/>
          <p:cNvSpPr/>
          <p:nvPr/>
        </p:nvSpPr>
        <p:spPr>
          <a:xfrm>
            <a:off x="661475" y="4426545"/>
            <a:ext cx="10868745" cy="1391543"/>
          </a:xfrm>
          <a:prstGeom prst="roundRect">
            <a:avLst>
              <a:gd name="adj" fmla="val 2038"/>
            </a:avLst>
          </a:prstGeom>
          <a:solidFill>
            <a:srgbClr val="EEE8DD"/>
          </a:solidFill>
          <a:ln/>
        </p:spPr>
      </p:sp>
      <p:sp>
        <p:nvSpPr>
          <p:cNvPr id="13" name="Shape 11"/>
          <p:cNvSpPr/>
          <p:nvPr/>
        </p:nvSpPr>
        <p:spPr>
          <a:xfrm>
            <a:off x="661475" y="4426545"/>
            <a:ext cx="5434373" cy="1391543"/>
          </a:xfrm>
          <a:custGeom>
            <a:avLst/>
            <a:gdLst/>
            <a:ahLst/>
            <a:cxnLst/>
            <a:rect l="l" t="t" r="r" b="b"/>
            <a:pathLst>
              <a:path w="5434373" h="1391543">
                <a:moveTo>
                  <a:pt x="23627" y="0"/>
                </a:moveTo>
                <a:lnTo>
                  <a:pt x="5434373" y="0"/>
                </a:lnTo>
                <a:lnTo>
                  <a:pt x="5434373" y="1391543"/>
                </a:lnTo>
                <a:lnTo>
                  <a:pt x="23627" y="1391543"/>
                </a:lnTo>
                <a:arcTo wR="23627" hR="23628" stAng="5400000" swAng="5400000"/>
                <a:lnTo>
                  <a:pt x="0" y="23628"/>
                </a:lnTo>
                <a:arcTo wR="23627" hR="23628" stAng="10800000" swAng="5400000"/>
                <a:close/>
              </a:path>
            </a:pathLst>
          </a:custGeom>
          <a:solidFill>
            <a:srgbClr val="EEE8DD"/>
          </a:solidFill>
          <a:ln/>
        </p:spPr>
      </p:sp>
      <p:sp>
        <p:nvSpPr>
          <p:cNvPr id="14" name="Text 12"/>
          <p:cNvSpPr/>
          <p:nvPr/>
        </p:nvSpPr>
        <p:spPr>
          <a:xfrm>
            <a:off x="850482" y="4615557"/>
            <a:ext cx="5056359" cy="295275"/>
          </a:xfrm>
          <a:prstGeom prst="rect">
            <a:avLst/>
          </a:prstGeom>
          <a:noFill/>
          <a:ln/>
        </p:spPr>
        <p:txBody>
          <a:bodyPr wrap="none" lIns="0" tIns="0" rIns="0" bIns="0" rtlCol="0" anchor="t"/>
          <a:lstStyle/>
          <a:p>
            <a:pPr marL="0" indent="0" algn="l">
              <a:lnSpc>
                <a:spcPct val="104000"/>
              </a:lnSpc>
              <a:buNone/>
            </a:pPr>
            <a:r>
              <a:rPr lang="en-US" sz="1850" dirty="0">
                <a:solidFill>
                  <a:srgbClr val="746558"/>
                </a:solidFill>
                <a:latin typeface="Gelasio SemiBold" pitchFamily="34" charset="0"/>
                <a:ea typeface="Gelasio SemiBold" pitchFamily="34" charset="-122"/>
                <a:cs typeface="Gelasio SemiBold" pitchFamily="34" charset="-120"/>
              </a:rPr>
              <a:t>Clear Contrast</a:t>
            </a:r>
            <a:endParaRPr lang="en-US" sz="1850" dirty="0"/>
          </a:p>
        </p:txBody>
      </p:sp>
      <p:sp>
        <p:nvSpPr>
          <p:cNvPr id="15" name="Text 13"/>
          <p:cNvSpPr/>
          <p:nvPr/>
        </p:nvSpPr>
        <p:spPr>
          <a:xfrm>
            <a:off x="850482" y="5024239"/>
            <a:ext cx="5056359"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746558"/>
                </a:solidFill>
                <a:latin typeface="Gelasio" pitchFamily="34" charset="0"/>
                <a:ea typeface="Gelasio" pitchFamily="34" charset="-122"/>
                <a:cs typeface="Gelasio" pitchFamily="34" charset="-120"/>
              </a:rPr>
              <a:t>Side-by-side comparison makes the difference immediately visible.</a:t>
            </a:r>
            <a:endParaRPr lang="en-US" sz="1450" dirty="0"/>
          </a:p>
        </p:txBody>
      </p:sp>
      <p:sp>
        <p:nvSpPr>
          <p:cNvPr id="16" name="Shape 14"/>
          <p:cNvSpPr/>
          <p:nvPr/>
        </p:nvSpPr>
        <p:spPr>
          <a:xfrm>
            <a:off x="6095848" y="4426545"/>
            <a:ext cx="5434373" cy="1391543"/>
          </a:xfrm>
          <a:custGeom>
            <a:avLst/>
            <a:gdLst/>
            <a:ahLst/>
            <a:cxnLst/>
            <a:rect l="l" t="t" r="r" b="b"/>
            <a:pathLst>
              <a:path w="5434373" h="1391543">
                <a:moveTo>
                  <a:pt x="0" y="0"/>
                </a:moveTo>
                <a:lnTo>
                  <a:pt x="5410745" y="0"/>
                </a:lnTo>
                <a:arcTo wR="23627" hR="23628" stAng="16200000" swAng="5400000"/>
                <a:lnTo>
                  <a:pt x="5434373" y="1367915"/>
                </a:lnTo>
                <a:arcTo wR="23627" hR="23628" stAng="0" swAng="5400000"/>
                <a:lnTo>
                  <a:pt x="0" y="1391543"/>
                </a:lnTo>
                <a:lnTo>
                  <a:pt x="0" y="0"/>
                </a:lnTo>
                <a:close/>
              </a:path>
            </a:pathLst>
          </a:custGeom>
          <a:solidFill>
            <a:srgbClr val="EEE8DD"/>
          </a:solidFill>
          <a:ln/>
        </p:spPr>
      </p:sp>
      <p:sp>
        <p:nvSpPr>
          <p:cNvPr id="17" name="Shape 15"/>
          <p:cNvSpPr/>
          <p:nvPr/>
        </p:nvSpPr>
        <p:spPr>
          <a:xfrm>
            <a:off x="6095848" y="4426545"/>
            <a:ext cx="25399" cy="1391543"/>
          </a:xfrm>
          <a:prstGeom prst="roundRect">
            <a:avLst>
              <a:gd name="adj" fmla="val 50001"/>
            </a:avLst>
          </a:prstGeom>
          <a:solidFill>
            <a:srgbClr val="D4CEC3"/>
          </a:solidFill>
          <a:ln/>
        </p:spPr>
      </p:sp>
      <p:sp>
        <p:nvSpPr>
          <p:cNvPr id="18" name="Text 16"/>
          <p:cNvSpPr/>
          <p:nvPr/>
        </p:nvSpPr>
        <p:spPr>
          <a:xfrm>
            <a:off x="6284854" y="4615557"/>
            <a:ext cx="5056359" cy="295275"/>
          </a:xfrm>
          <a:prstGeom prst="rect">
            <a:avLst/>
          </a:prstGeom>
          <a:noFill/>
          <a:ln/>
        </p:spPr>
        <p:txBody>
          <a:bodyPr wrap="none" lIns="0" tIns="0" rIns="0" bIns="0" rtlCol="0" anchor="t"/>
          <a:lstStyle/>
          <a:p>
            <a:pPr marL="0" indent="0" algn="l">
              <a:lnSpc>
                <a:spcPct val="104000"/>
              </a:lnSpc>
              <a:buNone/>
            </a:pPr>
            <a:r>
              <a:rPr lang="en-US" sz="1850" dirty="0">
                <a:solidFill>
                  <a:srgbClr val="746558"/>
                </a:solidFill>
                <a:latin typeface="Gelasio SemiBold" pitchFamily="34" charset="0"/>
                <a:ea typeface="Gelasio SemiBold" pitchFamily="34" charset="-122"/>
                <a:cs typeface="Gelasio SemiBold" pitchFamily="34" charset="-120"/>
              </a:rPr>
              <a:t>Readable Output</a:t>
            </a:r>
            <a:endParaRPr lang="en-US" sz="1850" dirty="0"/>
          </a:p>
        </p:txBody>
      </p:sp>
      <p:sp>
        <p:nvSpPr>
          <p:cNvPr id="19" name="Text 17"/>
          <p:cNvSpPr/>
          <p:nvPr/>
        </p:nvSpPr>
        <p:spPr>
          <a:xfrm>
            <a:off x="6284854" y="5024239"/>
            <a:ext cx="5056359" cy="302419"/>
          </a:xfrm>
          <a:prstGeom prst="rect">
            <a:avLst/>
          </a:prstGeom>
          <a:noFill/>
          <a:ln/>
        </p:spPr>
        <p:txBody>
          <a:bodyPr wrap="none" lIns="0" tIns="0" rIns="0" bIns="0" rtlCol="0" anchor="t"/>
          <a:lstStyle/>
          <a:p>
            <a:pPr marL="0" indent="0" algn="l">
              <a:lnSpc>
                <a:spcPct val="133000"/>
              </a:lnSpc>
              <a:buNone/>
            </a:pPr>
            <a:r>
              <a:rPr lang="en-US" sz="1450" dirty="0">
                <a:solidFill>
                  <a:srgbClr val="746558"/>
                </a:solidFill>
                <a:latin typeface="Gelasio" pitchFamily="34" charset="0"/>
                <a:ea typeface="Gelasio" pitchFamily="34" charset="-122"/>
                <a:cs typeface="Gelasio" pitchFamily="34" charset="-120"/>
              </a:rPr>
              <a:t>Large, crisp text keeps both approaches easy to scan.</a:t>
            </a:r>
            <a:endParaRPr lang="en-US" sz="1450" dirty="0"/>
          </a:p>
        </p:txBody>
      </p:sp>
      <p:sp>
        <p:nvSpPr>
          <p:cNvPr id="20" name="Text 18"/>
          <p:cNvSpPr/>
          <p:nvPr/>
        </p:nvSpPr>
        <p:spPr>
          <a:xfrm>
            <a:off x="356682" y="6030714"/>
            <a:ext cx="11478330" cy="302419"/>
          </a:xfrm>
          <a:prstGeom prst="rect">
            <a:avLst/>
          </a:prstGeom>
          <a:noFill/>
          <a:ln/>
        </p:spPr>
        <p:txBody>
          <a:bodyPr wrap="none" lIns="0" tIns="0" rIns="0" bIns="0" rtlCol="0" anchor="t"/>
          <a:lstStyle/>
          <a:p>
            <a:pPr marL="0" indent="0" algn="ctr">
              <a:lnSpc>
                <a:spcPct val="133000"/>
              </a:lnSpc>
              <a:buNone/>
            </a:pPr>
            <a:r>
              <a:rPr lang="en-US" sz="1450" dirty="0">
                <a:solidFill>
                  <a:srgbClr val="746558"/>
                </a:solidFill>
                <a:latin typeface="Gelasio" pitchFamily="34" charset="0"/>
                <a:ea typeface="Gelasio" pitchFamily="34" charset="-122"/>
                <a:cs typeface="Gelasio" pitchFamily="34" charset="-120"/>
              </a:rPr>
              <a:t>Output quality correlates directly with how well the three principles are implemented.</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797421"/>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484237"/>
                </a:solidFill>
                <a:latin typeface="Gelasio SemiBold" pitchFamily="34" charset="0"/>
                <a:ea typeface="Gelasio SemiBold" pitchFamily="34" charset="-122"/>
                <a:cs typeface="Gelasio SemiBold" pitchFamily="34" charset="-120"/>
              </a:rPr>
              <a:t>A Well-Crafted Prompt Example</a:t>
            </a:r>
            <a:endParaRPr lang="en-US" sz="3250" dirty="0"/>
          </a:p>
        </p:txBody>
      </p:sp>
      <p:sp>
        <p:nvSpPr>
          <p:cNvPr id="3" name="Text 1"/>
          <p:cNvSpPr/>
          <p:nvPr/>
        </p:nvSpPr>
        <p:spPr>
          <a:xfrm>
            <a:off x="661475" y="1603573"/>
            <a:ext cx="10868745" cy="4456906"/>
          </a:xfrm>
          <a:prstGeom prst="rect">
            <a:avLst/>
          </a:prstGeom>
          <a:noFill/>
          <a:ln/>
        </p:spPr>
        <p:txBody>
          <a:bodyPr wrap="square" lIns="0" tIns="0" rIns="0" bIns="0" rtlCol="0" anchor="t">
            <a:normAutofit/>
          </a:bodyPr>
          <a:lstStyle/>
          <a:p>
            <a:pPr marL="0" indent="0" algn="l">
              <a:lnSpc>
                <a:spcPct val="125000"/>
              </a:lnSpc>
              <a:spcAft>
                <a:spcPts val="1250"/>
              </a:spcAft>
              <a:buNone/>
            </a:pPr>
            <a:endParaRPr lang="en-US" sz="1300" dirty="0"/>
          </a:p>
        </p:txBody>
      </p:sp>
      <p:sp>
        <p:nvSpPr>
          <p:cNvPr id="4" name="TextBox 3">
            <a:extLst>
              <a:ext uri="{FF2B5EF4-FFF2-40B4-BE49-F238E27FC236}">
                <a16:creationId xmlns:a16="http://schemas.microsoft.com/office/drawing/2014/main" id="{0D2A2231-55F1-BBF9-55A0-34FC0E2005B7}"/>
              </a:ext>
            </a:extLst>
          </p:cNvPr>
          <p:cNvSpPr txBox="1"/>
          <p:nvPr/>
        </p:nvSpPr>
        <p:spPr>
          <a:xfrm>
            <a:off x="661475" y="1603574"/>
            <a:ext cx="10205447" cy="4801314"/>
          </a:xfrm>
          <a:prstGeom prst="rect">
            <a:avLst/>
          </a:prstGeom>
          <a:noFill/>
        </p:spPr>
        <p:txBody>
          <a:bodyPr wrap="square" rtlCol="0">
            <a:spAutoFit/>
          </a:bodyPr>
          <a:lstStyle/>
          <a:p>
            <a:r>
              <a:rPr lang="en-UG" dirty="0"/>
              <a:t>Act as an experienced Data Science lecturer and mentor teaching a second-year Bachelor of Data Science and Analytics student at Uganda Christian University.</a:t>
            </a:r>
          </a:p>
          <a:p>
            <a:r>
              <a:rPr lang="en-UG" dirty="0"/>
              <a:t>Explain, step by step, how to build a fraud detection machine learning model in Python using Scikit-learn and the Kaggle Credit Card Fraud Detection dataset. Assume the student knows Pandas, NumPy, Matplotlib, and basic Scikit-learn.</a:t>
            </a:r>
          </a:p>
          <a:p>
            <a:r>
              <a:rPr lang="en-UG" dirty="0"/>
              <a:t>Cover the complete ML workflow: the business problem, dataset overview, classification and class imbalance, EDA, preprocessing, feature scaling, train-test split, handling imbalance, model training, evaluation, and interpretation.</a:t>
            </a:r>
          </a:p>
          <a:p>
            <a:r>
              <a:rPr lang="en-UG" dirty="0"/>
              <a:t>Compare Logistic Regression and Random Forest, explaining how they work, their pros and cons, and when to use each. Include fully explained Python code, describing key functions, parameters, and modelling decisions.</a:t>
            </a:r>
          </a:p>
          <a:p>
            <a:r>
              <a:rPr lang="en-UG" dirty="0"/>
              <a:t>Evaluate using confusion matrix, precision, recall, F1-score, and ROC-AUC, explaining why accuracy is misleading for imbalanced data. Highlight common mistakes (data leakage, scaling, train-test splitting, class imbalance, accuracy-only evaluation) and end with practical exercises and challenge questions.</a:t>
            </a:r>
          </a:p>
          <a:p>
            <a:r>
              <a:rPr lang="en-US"/>
              <a:t>The </a:t>
            </a:r>
            <a:r>
              <a:rPr lang="en-UG"/>
              <a:t>success </a:t>
            </a:r>
            <a:r>
              <a:rPr lang="en-UG" dirty="0"/>
              <a:t>criteria</a:t>
            </a:r>
            <a:r>
              <a:rPr lang="en-US" dirty="0"/>
              <a:t> should be</a:t>
            </a:r>
            <a:r>
              <a:rPr lang="en-UG" dirty="0"/>
              <a:t> </a:t>
            </a:r>
            <a:r>
              <a:rPr lang="en-US" dirty="0"/>
              <a:t>a</a:t>
            </a:r>
            <a:r>
              <a:rPr lang="en-UG" dirty="0"/>
              <a:t> clear, beginner-friendly, technically accurate guide that enables the student to reproduce and confidently explain the entire project in Jupyter Notebook.</a:t>
            </a:r>
          </a:p>
          <a:p>
            <a:endParaRPr lang="en-UG"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578545"/>
            <a:ext cx="10868745" cy="553740"/>
          </a:xfrm>
          <a:prstGeom prst="rect">
            <a:avLst/>
          </a:prstGeom>
          <a:noFill/>
          <a:ln/>
        </p:spPr>
        <p:txBody>
          <a:bodyPr wrap="none" lIns="0" tIns="0" rIns="0" bIns="0" rtlCol="0" anchor="t"/>
          <a:lstStyle/>
          <a:p>
            <a:pPr marL="0" indent="0" algn="l">
              <a:lnSpc>
                <a:spcPct val="104000"/>
              </a:lnSpc>
              <a:buNone/>
            </a:pPr>
            <a:r>
              <a:rPr lang="en-US" sz="3450" dirty="0">
                <a:solidFill>
                  <a:srgbClr val="484237"/>
                </a:solidFill>
                <a:latin typeface="Gelasio SemiBold" pitchFamily="34" charset="0"/>
                <a:ea typeface="Gelasio SemiBold" pitchFamily="34" charset="-122"/>
                <a:cs typeface="Gelasio SemiBold" pitchFamily="34" charset="-120"/>
              </a:rPr>
              <a:t>A Well-Crafted Prompt Example </a:t>
            </a:r>
            <a:endParaRPr lang="en-US" sz="345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2425" y="1445419"/>
            <a:ext cx="5349543" cy="1238548"/>
          </a:xfrm>
          <a:prstGeom prst="rect">
            <a:avLst/>
          </a:prstGeom>
        </p:spPr>
      </p:pic>
      <p:sp>
        <p:nvSpPr>
          <p:cNvPr id="4" name="Text 1"/>
          <p:cNvSpPr/>
          <p:nvPr/>
        </p:nvSpPr>
        <p:spPr>
          <a:xfrm>
            <a:off x="876774" y="1464469"/>
            <a:ext cx="5115194" cy="276920"/>
          </a:xfrm>
          <a:prstGeom prst="rect">
            <a:avLst/>
          </a:prstGeom>
          <a:noFill/>
          <a:ln/>
        </p:spPr>
        <p:txBody>
          <a:bodyPr wrap="none" lIns="0" tIns="0" rIns="0" bIns="0" rtlCol="0" anchor="t"/>
          <a:lstStyle/>
          <a:p>
            <a:pPr marL="0" indent="0" algn="l">
              <a:lnSpc>
                <a:spcPct val="104000"/>
              </a:lnSpc>
              <a:buNone/>
            </a:pPr>
            <a:r>
              <a:rPr lang="en-US" sz="1700" dirty="0">
                <a:solidFill>
                  <a:srgbClr val="746558"/>
                </a:solidFill>
                <a:latin typeface="Gelasio SemiBold" pitchFamily="34" charset="0"/>
                <a:ea typeface="Gelasio SemiBold" pitchFamily="34" charset="-122"/>
                <a:cs typeface="Gelasio SemiBold" pitchFamily="34" charset="-120"/>
              </a:rPr>
              <a:t>Role</a:t>
            </a:r>
            <a:endParaRPr lang="en-US" sz="1700" dirty="0"/>
          </a:p>
        </p:txBody>
      </p:sp>
      <p:sp>
        <p:nvSpPr>
          <p:cNvPr id="5" name="Text 2"/>
          <p:cNvSpPr/>
          <p:nvPr/>
        </p:nvSpPr>
        <p:spPr>
          <a:xfrm>
            <a:off x="876774" y="1841004"/>
            <a:ext cx="5115194" cy="823913"/>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746558"/>
                </a:solidFill>
                <a:latin typeface="Gelasio" pitchFamily="34" charset="0"/>
                <a:ea typeface="Gelasio" pitchFamily="34" charset="-122"/>
                <a:cs typeface="Gelasio" pitchFamily="34" charset="-120"/>
              </a:rPr>
              <a:t>You are an experienced Data Science lecturer and mentor supporting a second-year Bachelor of Data Science and Analytics student at Uganda Christian University.</a:t>
            </a:r>
            <a:endParaRPr lang="en-US" sz="1350" dirty="0"/>
          </a:p>
        </p:txBody>
      </p:sp>
      <p:pic>
        <p:nvPicPr>
          <p:cNvPr id="6"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80578" y="1445419"/>
            <a:ext cx="5349642" cy="1238548"/>
          </a:xfrm>
          <a:prstGeom prst="rect">
            <a:avLst/>
          </a:prstGeom>
        </p:spPr>
      </p:pic>
      <p:sp>
        <p:nvSpPr>
          <p:cNvPr id="7" name="Text 3"/>
          <p:cNvSpPr/>
          <p:nvPr/>
        </p:nvSpPr>
        <p:spPr>
          <a:xfrm>
            <a:off x="6414927" y="1464469"/>
            <a:ext cx="5115293" cy="276920"/>
          </a:xfrm>
          <a:prstGeom prst="rect">
            <a:avLst/>
          </a:prstGeom>
          <a:noFill/>
          <a:ln/>
        </p:spPr>
        <p:txBody>
          <a:bodyPr wrap="none" lIns="0" tIns="0" rIns="0" bIns="0" rtlCol="0" anchor="t"/>
          <a:lstStyle/>
          <a:p>
            <a:pPr marL="0" indent="0" algn="l">
              <a:lnSpc>
                <a:spcPct val="104000"/>
              </a:lnSpc>
              <a:buNone/>
            </a:pPr>
            <a:r>
              <a:rPr lang="en-US" sz="1700" dirty="0">
                <a:solidFill>
                  <a:srgbClr val="746558"/>
                </a:solidFill>
                <a:latin typeface="Gelasio SemiBold" pitchFamily="34" charset="0"/>
                <a:ea typeface="Gelasio SemiBold" pitchFamily="34" charset="-122"/>
                <a:cs typeface="Gelasio SemiBold" pitchFamily="34" charset="-120"/>
              </a:rPr>
              <a:t>Task</a:t>
            </a:r>
            <a:endParaRPr lang="en-US" sz="1700" dirty="0"/>
          </a:p>
        </p:txBody>
      </p:sp>
      <p:sp>
        <p:nvSpPr>
          <p:cNvPr id="8" name="Text 4"/>
          <p:cNvSpPr/>
          <p:nvPr/>
        </p:nvSpPr>
        <p:spPr>
          <a:xfrm>
            <a:off x="6414927" y="1841004"/>
            <a:ext cx="5115293" cy="823913"/>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746558"/>
                </a:solidFill>
                <a:latin typeface="Gelasio" pitchFamily="34" charset="0"/>
                <a:ea typeface="Gelasio" pitchFamily="34" charset="-122"/>
                <a:cs typeface="Gelasio" pitchFamily="34" charset="-120"/>
              </a:rPr>
              <a:t>Teach the student how to build a fraud detection machine learning model using Python and Scikit-learn, based on the Kaggle Credit Card Fraud Detection dataset.</a:t>
            </a:r>
            <a:endParaRPr lang="en-US" sz="1350" dirty="0"/>
          </a:p>
        </p:txBody>
      </p:sp>
      <p:pic>
        <p:nvPicPr>
          <p:cNvPr id="9"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2425" y="2978051"/>
            <a:ext cx="5349543" cy="1787823"/>
          </a:xfrm>
          <a:prstGeom prst="rect">
            <a:avLst/>
          </a:prstGeom>
        </p:spPr>
      </p:pic>
      <p:sp>
        <p:nvSpPr>
          <p:cNvPr id="10" name="Text 5"/>
          <p:cNvSpPr/>
          <p:nvPr/>
        </p:nvSpPr>
        <p:spPr>
          <a:xfrm>
            <a:off x="876774" y="2997101"/>
            <a:ext cx="5115194" cy="276920"/>
          </a:xfrm>
          <a:prstGeom prst="rect">
            <a:avLst/>
          </a:prstGeom>
          <a:noFill/>
          <a:ln/>
        </p:spPr>
        <p:txBody>
          <a:bodyPr wrap="none" lIns="0" tIns="0" rIns="0" bIns="0" rtlCol="0" anchor="t"/>
          <a:lstStyle/>
          <a:p>
            <a:pPr marL="0" indent="0" algn="l">
              <a:lnSpc>
                <a:spcPct val="104000"/>
              </a:lnSpc>
              <a:buNone/>
            </a:pPr>
            <a:r>
              <a:rPr lang="en-US" sz="1700" dirty="0">
                <a:solidFill>
                  <a:srgbClr val="746558"/>
                </a:solidFill>
                <a:latin typeface="Gelasio SemiBold" pitchFamily="34" charset="0"/>
                <a:ea typeface="Gelasio SemiBold" pitchFamily="34" charset="-122"/>
                <a:cs typeface="Gelasio SemiBold" pitchFamily="34" charset="-120"/>
              </a:rPr>
              <a:t>Context</a:t>
            </a:r>
            <a:endParaRPr lang="en-US" sz="1700" dirty="0"/>
          </a:p>
        </p:txBody>
      </p:sp>
      <p:sp>
        <p:nvSpPr>
          <p:cNvPr id="11" name="Text 6"/>
          <p:cNvSpPr/>
          <p:nvPr/>
        </p:nvSpPr>
        <p:spPr>
          <a:xfrm>
            <a:off x="876774" y="3373636"/>
            <a:ext cx="5115194" cy="823913"/>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746558"/>
                </a:solidFill>
                <a:latin typeface="Gelasio" pitchFamily="34" charset="0"/>
                <a:ea typeface="Gelasio" pitchFamily="34" charset="-122"/>
                <a:cs typeface="Gelasio" pitchFamily="34" charset="-120"/>
              </a:rPr>
              <a:t>The student already understands Pandas, NumPy, Matplotlib, and the basics of Scikit-learn, but needs guidance on how to combine these skills into a complete end-to-end project.</a:t>
            </a:r>
            <a:endParaRPr lang="en-US" sz="1350" dirty="0"/>
          </a:p>
        </p:txBody>
      </p:sp>
      <p:pic>
        <p:nvPicPr>
          <p:cNvPr id="12" name="Image 3"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80578" y="2978051"/>
            <a:ext cx="5349642" cy="1787823"/>
          </a:xfrm>
          <a:prstGeom prst="rect">
            <a:avLst/>
          </a:prstGeom>
        </p:spPr>
      </p:pic>
      <p:sp>
        <p:nvSpPr>
          <p:cNvPr id="13" name="Text 7"/>
          <p:cNvSpPr/>
          <p:nvPr/>
        </p:nvSpPr>
        <p:spPr>
          <a:xfrm>
            <a:off x="6414927" y="2997101"/>
            <a:ext cx="5115293" cy="276920"/>
          </a:xfrm>
          <a:prstGeom prst="rect">
            <a:avLst/>
          </a:prstGeom>
          <a:noFill/>
          <a:ln/>
        </p:spPr>
        <p:txBody>
          <a:bodyPr wrap="none" lIns="0" tIns="0" rIns="0" bIns="0" rtlCol="0" anchor="t"/>
          <a:lstStyle/>
          <a:p>
            <a:pPr marL="0" indent="0" algn="l">
              <a:lnSpc>
                <a:spcPct val="104000"/>
              </a:lnSpc>
              <a:buNone/>
            </a:pPr>
            <a:r>
              <a:rPr lang="en-US" sz="1700" dirty="0">
                <a:solidFill>
                  <a:srgbClr val="746558"/>
                </a:solidFill>
                <a:latin typeface="Gelasio SemiBold" pitchFamily="34" charset="0"/>
                <a:ea typeface="Gelasio SemiBold" pitchFamily="34" charset="-122"/>
                <a:cs typeface="Gelasio SemiBold" pitchFamily="34" charset="-120"/>
              </a:rPr>
              <a:t>Requirements</a:t>
            </a:r>
            <a:endParaRPr lang="en-US" sz="1700" dirty="0"/>
          </a:p>
        </p:txBody>
      </p:sp>
      <p:sp>
        <p:nvSpPr>
          <p:cNvPr id="14" name="Text 8"/>
          <p:cNvSpPr/>
          <p:nvPr/>
        </p:nvSpPr>
        <p:spPr>
          <a:xfrm>
            <a:off x="6414927" y="3373636"/>
            <a:ext cx="5115293" cy="1373188"/>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746558"/>
                </a:solidFill>
                <a:latin typeface="Gelasio" pitchFamily="34" charset="0"/>
                <a:ea typeface="Gelasio" pitchFamily="34" charset="-122"/>
                <a:cs typeface="Gelasio" pitchFamily="34" charset="-120"/>
              </a:rPr>
              <a:t>Cover data cleaning, feature scaling, train-test split, model training, and class imbalance. Compare Logistic Regression and Random Forest, and include a confusion matrix, precision, recall, F1-score, and ROC-AUC. Also highlight common student mistakes and explain how to avoid them.</a:t>
            </a:r>
            <a:endParaRPr lang="en-US" sz="1350" dirty="0"/>
          </a:p>
        </p:txBody>
      </p:sp>
      <p:pic>
        <p:nvPicPr>
          <p:cNvPr id="15" name="Image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2425" y="5059958"/>
            <a:ext cx="5349543" cy="1238548"/>
          </a:xfrm>
          <a:prstGeom prst="rect">
            <a:avLst/>
          </a:prstGeom>
        </p:spPr>
      </p:pic>
      <p:sp>
        <p:nvSpPr>
          <p:cNvPr id="16" name="Text 9"/>
          <p:cNvSpPr/>
          <p:nvPr/>
        </p:nvSpPr>
        <p:spPr>
          <a:xfrm>
            <a:off x="876774" y="5079008"/>
            <a:ext cx="5115194" cy="276920"/>
          </a:xfrm>
          <a:prstGeom prst="rect">
            <a:avLst/>
          </a:prstGeom>
          <a:noFill/>
          <a:ln/>
        </p:spPr>
        <p:txBody>
          <a:bodyPr wrap="none" lIns="0" tIns="0" rIns="0" bIns="0" rtlCol="0" anchor="t"/>
          <a:lstStyle/>
          <a:p>
            <a:pPr marL="0" indent="0" algn="l">
              <a:lnSpc>
                <a:spcPct val="104000"/>
              </a:lnSpc>
              <a:buNone/>
            </a:pPr>
            <a:r>
              <a:rPr lang="en-US" sz="1700" dirty="0">
                <a:solidFill>
                  <a:srgbClr val="746558"/>
                </a:solidFill>
                <a:latin typeface="Gelasio SemiBold" pitchFamily="34" charset="0"/>
                <a:ea typeface="Gelasio SemiBold" pitchFamily="34" charset="-122"/>
                <a:cs typeface="Gelasio SemiBold" pitchFamily="34" charset="-120"/>
              </a:rPr>
              <a:t>Output Format</a:t>
            </a:r>
            <a:endParaRPr lang="en-US" sz="1700" dirty="0"/>
          </a:p>
        </p:txBody>
      </p:sp>
      <p:sp>
        <p:nvSpPr>
          <p:cNvPr id="17" name="Text 10"/>
          <p:cNvSpPr/>
          <p:nvPr/>
        </p:nvSpPr>
        <p:spPr>
          <a:xfrm>
            <a:off x="876774" y="5455543"/>
            <a:ext cx="5115194" cy="823913"/>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746558"/>
                </a:solidFill>
                <a:latin typeface="Gelasio" pitchFamily="34" charset="0"/>
                <a:ea typeface="Gelasio" pitchFamily="34" charset="-122"/>
                <a:cs typeface="Gelasio" pitchFamily="34" charset="-120"/>
              </a:rPr>
              <a:t>Present the answer as concept explanation, Python code, expected output interpretation, and practice exercises, in that order.</a:t>
            </a:r>
            <a:endParaRPr lang="en-US" sz="1350" dirty="0"/>
          </a:p>
        </p:txBody>
      </p:sp>
      <p:pic>
        <p:nvPicPr>
          <p:cNvPr id="18" name="Image 5"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80578" y="5059958"/>
            <a:ext cx="5349642" cy="1238548"/>
          </a:xfrm>
          <a:prstGeom prst="rect">
            <a:avLst/>
          </a:prstGeom>
        </p:spPr>
      </p:pic>
      <p:sp>
        <p:nvSpPr>
          <p:cNvPr id="19" name="Text 11"/>
          <p:cNvSpPr/>
          <p:nvPr/>
        </p:nvSpPr>
        <p:spPr>
          <a:xfrm>
            <a:off x="6414927" y="5079008"/>
            <a:ext cx="5115293" cy="276920"/>
          </a:xfrm>
          <a:prstGeom prst="rect">
            <a:avLst/>
          </a:prstGeom>
          <a:noFill/>
          <a:ln/>
        </p:spPr>
        <p:txBody>
          <a:bodyPr wrap="none" lIns="0" tIns="0" rIns="0" bIns="0" rtlCol="0" anchor="t"/>
          <a:lstStyle/>
          <a:p>
            <a:pPr marL="0" indent="0" algn="l">
              <a:lnSpc>
                <a:spcPct val="104000"/>
              </a:lnSpc>
              <a:buNone/>
            </a:pPr>
            <a:r>
              <a:rPr lang="en-US" sz="1700" dirty="0">
                <a:solidFill>
                  <a:srgbClr val="746558"/>
                </a:solidFill>
                <a:latin typeface="Gelasio SemiBold" pitchFamily="34" charset="0"/>
                <a:ea typeface="Gelasio SemiBold" pitchFamily="34" charset="-122"/>
                <a:cs typeface="Gelasio SemiBold" pitchFamily="34" charset="-120"/>
              </a:rPr>
              <a:t>Success Criteria</a:t>
            </a:r>
            <a:endParaRPr lang="en-US" sz="1700" dirty="0"/>
          </a:p>
        </p:txBody>
      </p:sp>
      <p:sp>
        <p:nvSpPr>
          <p:cNvPr id="20" name="Text 12"/>
          <p:cNvSpPr/>
          <p:nvPr/>
        </p:nvSpPr>
        <p:spPr>
          <a:xfrm>
            <a:off x="6414927" y="5455543"/>
            <a:ext cx="5115293" cy="823913"/>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746558"/>
                </a:solidFill>
                <a:latin typeface="Gelasio" pitchFamily="34" charset="0"/>
                <a:ea typeface="Gelasio" pitchFamily="34" charset="-122"/>
                <a:cs typeface="Gelasio" pitchFamily="34" charset="-120"/>
              </a:rPr>
              <a:t>The student should be able to reproduce the project independently in Jupyter Notebook and explain every modelling decision with confidence.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EEE8DD"/>
          </a:solidFill>
          <a:ln/>
        </p:spPr>
      </p:sp>
      <p:pic>
        <p:nvPicPr>
          <p:cNvPr id="3" name="Image 0" descr="preencoded.png"/>
          <p:cNvPicPr>
            <a:picLocks noChangeAspect="1"/>
          </p:cNvPicPr>
          <p:nvPr/>
        </p:nvPicPr>
        <p:blipFill>
          <a:blip r:embed="rId3"/>
          <a:stretch>
            <a:fillRect/>
          </a:stretch>
        </p:blipFill>
        <p:spPr>
          <a:xfrm>
            <a:off x="79671" y="1222673"/>
            <a:ext cx="4412544" cy="4412655"/>
          </a:xfrm>
          <a:prstGeom prst="rect">
            <a:avLst/>
          </a:prstGeom>
        </p:spPr>
      </p:pic>
      <p:sp>
        <p:nvSpPr>
          <p:cNvPr id="4" name="Text 1"/>
          <p:cNvSpPr/>
          <p:nvPr/>
        </p:nvSpPr>
        <p:spPr>
          <a:xfrm>
            <a:off x="5233360" y="678755"/>
            <a:ext cx="6296860" cy="996752"/>
          </a:xfrm>
          <a:prstGeom prst="rect">
            <a:avLst/>
          </a:prstGeom>
          <a:noFill/>
          <a:ln/>
        </p:spPr>
        <p:txBody>
          <a:bodyPr wrap="square" lIns="0" tIns="0" rIns="0" bIns="0" rtlCol="0" anchor="t">
            <a:normAutofit/>
          </a:bodyPr>
          <a:lstStyle/>
          <a:p>
            <a:pPr marL="0" indent="0" algn="l">
              <a:lnSpc>
                <a:spcPct val="104000"/>
              </a:lnSpc>
              <a:buNone/>
            </a:pPr>
            <a:r>
              <a:rPr lang="en-US" sz="3100" dirty="0">
                <a:solidFill>
                  <a:srgbClr val="484237"/>
                </a:solidFill>
                <a:latin typeface="Gelasio SemiBold" pitchFamily="34" charset="0"/>
                <a:ea typeface="Gelasio SemiBold" pitchFamily="34" charset="-122"/>
                <a:cs typeface="Gelasio SemiBold" pitchFamily="34" charset="-120"/>
              </a:rPr>
              <a:t>Conclusion: Mastering GPT-5 Prompt Engineering</a:t>
            </a:r>
            <a:endParaRPr lang="en-US" sz="3100" dirty="0"/>
          </a:p>
        </p:txBody>
      </p:sp>
      <p:sp>
        <p:nvSpPr>
          <p:cNvPr id="5" name="Text 2"/>
          <p:cNvSpPr/>
          <p:nvPr/>
        </p:nvSpPr>
        <p:spPr>
          <a:xfrm>
            <a:off x="5233360" y="1877318"/>
            <a:ext cx="6296860" cy="470297"/>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746558"/>
                </a:solidFill>
                <a:latin typeface="Gelasio" pitchFamily="34" charset="0"/>
                <a:ea typeface="Gelasio" pitchFamily="34" charset="-122"/>
                <a:cs typeface="Gelasio" pitchFamily="34" charset="-120"/>
              </a:rPr>
              <a:t>Effective prompting depends on balancing three complementary elements: </a:t>
            </a:r>
            <a:r>
              <a:rPr lang="en-US" sz="1250" b="1" dirty="0">
                <a:solidFill>
                  <a:srgbClr val="746558"/>
                </a:solidFill>
                <a:latin typeface="Gelasio Bold" pitchFamily="34" charset="0"/>
                <a:ea typeface="Gelasio Bold" pitchFamily="34" charset="-122"/>
                <a:cs typeface="Gelasio Bold" pitchFamily="34" charset="-120"/>
              </a:rPr>
              <a:t>agentic eagerness, reasoning effort, and clarity of instructions.</a:t>
            </a:r>
            <a:endParaRPr lang="en-US" sz="1250" dirty="0"/>
          </a:p>
        </p:txBody>
      </p:sp>
      <p:sp>
        <p:nvSpPr>
          <p:cNvPr id="6" name="Shape 3"/>
          <p:cNvSpPr/>
          <p:nvPr/>
        </p:nvSpPr>
        <p:spPr>
          <a:xfrm>
            <a:off x="5233360" y="2498923"/>
            <a:ext cx="3081161" cy="1354138"/>
          </a:xfrm>
          <a:prstGeom prst="roundRect">
            <a:avLst>
              <a:gd name="adj" fmla="val 1767"/>
            </a:avLst>
          </a:prstGeom>
          <a:solidFill>
            <a:srgbClr val="EEE8DD"/>
          </a:solidFill>
          <a:ln/>
        </p:spPr>
      </p:sp>
      <p:sp>
        <p:nvSpPr>
          <p:cNvPr id="7" name="Text 4"/>
          <p:cNvSpPr/>
          <p:nvPr/>
        </p:nvSpPr>
        <p:spPr>
          <a:xfrm>
            <a:off x="5392801" y="2658368"/>
            <a:ext cx="2762280" cy="249138"/>
          </a:xfrm>
          <a:prstGeom prst="rect">
            <a:avLst/>
          </a:prstGeom>
          <a:noFill/>
          <a:ln/>
        </p:spPr>
        <p:txBody>
          <a:bodyPr wrap="none" lIns="0" tIns="0" rIns="0" bIns="0" rtlCol="0" anchor="t"/>
          <a:lstStyle/>
          <a:p>
            <a:pPr marL="0" indent="0" algn="l">
              <a:lnSpc>
                <a:spcPct val="104000"/>
              </a:lnSpc>
              <a:buNone/>
            </a:pPr>
            <a:r>
              <a:rPr lang="en-US" sz="1550" dirty="0">
                <a:solidFill>
                  <a:srgbClr val="746558"/>
                </a:solidFill>
                <a:latin typeface="Gelasio SemiBold" pitchFamily="34" charset="0"/>
                <a:ea typeface="Gelasio SemiBold" pitchFamily="34" charset="-122"/>
                <a:cs typeface="Gelasio SemiBold" pitchFamily="34" charset="-120"/>
              </a:rPr>
              <a:t>Clarity</a:t>
            </a:r>
            <a:endParaRPr lang="en-US" sz="1550" dirty="0"/>
          </a:p>
        </p:txBody>
      </p:sp>
      <p:sp>
        <p:nvSpPr>
          <p:cNvPr id="8" name="Text 5"/>
          <p:cNvSpPr/>
          <p:nvPr/>
        </p:nvSpPr>
        <p:spPr>
          <a:xfrm>
            <a:off x="5392801" y="2988171"/>
            <a:ext cx="2762280" cy="705445"/>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746558"/>
                </a:solidFill>
                <a:latin typeface="Gelasio" pitchFamily="34" charset="0"/>
                <a:ea typeface="Gelasio" pitchFamily="34" charset="-122"/>
                <a:cs typeface="Gelasio" pitchFamily="34" charset="-120"/>
              </a:rPr>
              <a:t>The foundation of every prompt. Explicit goals, context, constraints, and expected outputs.</a:t>
            </a:r>
            <a:endParaRPr lang="en-US" sz="1250" dirty="0"/>
          </a:p>
        </p:txBody>
      </p:sp>
      <p:sp>
        <p:nvSpPr>
          <p:cNvPr id="9" name="Shape 6"/>
          <p:cNvSpPr/>
          <p:nvPr/>
        </p:nvSpPr>
        <p:spPr>
          <a:xfrm>
            <a:off x="8449059" y="2498923"/>
            <a:ext cx="3081161" cy="1354138"/>
          </a:xfrm>
          <a:prstGeom prst="roundRect">
            <a:avLst>
              <a:gd name="adj" fmla="val 1767"/>
            </a:avLst>
          </a:prstGeom>
          <a:solidFill>
            <a:srgbClr val="EEE8DD"/>
          </a:solidFill>
          <a:ln/>
        </p:spPr>
      </p:sp>
      <p:sp>
        <p:nvSpPr>
          <p:cNvPr id="10" name="Text 7"/>
          <p:cNvSpPr/>
          <p:nvPr/>
        </p:nvSpPr>
        <p:spPr>
          <a:xfrm>
            <a:off x="8608499" y="2658368"/>
            <a:ext cx="2762280" cy="249138"/>
          </a:xfrm>
          <a:prstGeom prst="rect">
            <a:avLst/>
          </a:prstGeom>
          <a:noFill/>
          <a:ln/>
        </p:spPr>
        <p:txBody>
          <a:bodyPr wrap="none" lIns="0" tIns="0" rIns="0" bIns="0" rtlCol="0" anchor="t"/>
          <a:lstStyle/>
          <a:p>
            <a:pPr marL="0" indent="0" algn="l">
              <a:lnSpc>
                <a:spcPct val="104000"/>
              </a:lnSpc>
              <a:buNone/>
            </a:pPr>
            <a:r>
              <a:rPr lang="en-US" sz="1550" dirty="0">
                <a:solidFill>
                  <a:srgbClr val="746558"/>
                </a:solidFill>
                <a:latin typeface="Gelasio SemiBold" pitchFamily="34" charset="0"/>
                <a:ea typeface="Gelasio SemiBold" pitchFamily="34" charset="-122"/>
                <a:cs typeface="Gelasio SemiBold" pitchFamily="34" charset="-120"/>
              </a:rPr>
              <a:t>Reasoning Effort</a:t>
            </a:r>
            <a:endParaRPr lang="en-US" sz="1550" dirty="0"/>
          </a:p>
        </p:txBody>
      </p:sp>
      <p:sp>
        <p:nvSpPr>
          <p:cNvPr id="11" name="Text 8"/>
          <p:cNvSpPr/>
          <p:nvPr/>
        </p:nvSpPr>
        <p:spPr>
          <a:xfrm>
            <a:off x="8608499" y="2988171"/>
            <a:ext cx="2762280" cy="705445"/>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746558"/>
                </a:solidFill>
                <a:latin typeface="Gelasio" pitchFamily="34" charset="0"/>
                <a:ea typeface="Gelasio" pitchFamily="34" charset="-122"/>
                <a:cs typeface="Gelasio" pitchFamily="34" charset="-120"/>
              </a:rPr>
              <a:t>Match to task complexity. Increase only for complex, multi-step challenges.</a:t>
            </a:r>
            <a:endParaRPr lang="en-US" sz="1250" dirty="0"/>
          </a:p>
        </p:txBody>
      </p:sp>
      <p:sp>
        <p:nvSpPr>
          <p:cNvPr id="12" name="Shape 9"/>
          <p:cNvSpPr/>
          <p:nvPr/>
        </p:nvSpPr>
        <p:spPr>
          <a:xfrm>
            <a:off x="5233360" y="3987602"/>
            <a:ext cx="6296860" cy="883841"/>
          </a:xfrm>
          <a:prstGeom prst="roundRect">
            <a:avLst>
              <a:gd name="adj" fmla="val 2707"/>
            </a:avLst>
          </a:prstGeom>
          <a:solidFill>
            <a:srgbClr val="EEE8DD"/>
          </a:solidFill>
          <a:ln/>
        </p:spPr>
      </p:sp>
      <p:sp>
        <p:nvSpPr>
          <p:cNvPr id="13" name="Text 10"/>
          <p:cNvSpPr/>
          <p:nvPr/>
        </p:nvSpPr>
        <p:spPr>
          <a:xfrm>
            <a:off x="5392801" y="4147046"/>
            <a:ext cx="5977979" cy="249138"/>
          </a:xfrm>
          <a:prstGeom prst="rect">
            <a:avLst/>
          </a:prstGeom>
          <a:noFill/>
          <a:ln/>
        </p:spPr>
        <p:txBody>
          <a:bodyPr wrap="none" lIns="0" tIns="0" rIns="0" bIns="0" rtlCol="0" anchor="t"/>
          <a:lstStyle/>
          <a:p>
            <a:pPr marL="0" indent="0" algn="l">
              <a:lnSpc>
                <a:spcPct val="104000"/>
              </a:lnSpc>
              <a:buNone/>
            </a:pPr>
            <a:r>
              <a:rPr lang="en-US" sz="1550" dirty="0">
                <a:solidFill>
                  <a:srgbClr val="746558"/>
                </a:solidFill>
                <a:latin typeface="Gelasio SemiBold" pitchFamily="34" charset="0"/>
                <a:ea typeface="Gelasio SemiBold" pitchFamily="34" charset="-122"/>
                <a:cs typeface="Gelasio SemiBold" pitchFamily="34" charset="-120"/>
              </a:rPr>
              <a:t>Agentic Eagerness</a:t>
            </a:r>
            <a:endParaRPr lang="en-US" sz="1550" dirty="0"/>
          </a:p>
        </p:txBody>
      </p:sp>
      <p:sp>
        <p:nvSpPr>
          <p:cNvPr id="14" name="Text 11"/>
          <p:cNvSpPr/>
          <p:nvPr/>
        </p:nvSpPr>
        <p:spPr>
          <a:xfrm>
            <a:off x="5392801" y="4476849"/>
            <a:ext cx="5977979" cy="235148"/>
          </a:xfrm>
          <a:prstGeom prst="rect">
            <a:avLst/>
          </a:prstGeom>
          <a:noFill/>
          <a:ln/>
        </p:spPr>
        <p:txBody>
          <a:bodyPr wrap="none" lIns="0" tIns="0" rIns="0" bIns="0" rtlCol="0" anchor="t"/>
          <a:lstStyle/>
          <a:p>
            <a:pPr marL="0" indent="0" algn="l">
              <a:lnSpc>
                <a:spcPct val="123000"/>
              </a:lnSpc>
              <a:buNone/>
            </a:pPr>
            <a:r>
              <a:rPr lang="en-US" sz="1250" dirty="0">
                <a:solidFill>
                  <a:srgbClr val="746558"/>
                </a:solidFill>
                <a:latin typeface="Gelasio" pitchFamily="34" charset="0"/>
                <a:ea typeface="Gelasio" pitchFamily="34" charset="-122"/>
                <a:cs typeface="Gelasio" pitchFamily="34" charset="-120"/>
              </a:rPr>
              <a:t>Calibrate to avoid unnecessary actions while ensuring tasks are completed fully.</a:t>
            </a:r>
            <a:endParaRPr lang="en-US" sz="1250" dirty="0"/>
          </a:p>
        </p:txBody>
      </p:sp>
      <p:sp>
        <p:nvSpPr>
          <p:cNvPr id="15" name="Text 12"/>
          <p:cNvSpPr/>
          <p:nvPr/>
        </p:nvSpPr>
        <p:spPr>
          <a:xfrm>
            <a:off x="5233360" y="5022751"/>
            <a:ext cx="6296860" cy="705445"/>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746558"/>
                </a:solidFill>
                <a:latin typeface="Gelasio" pitchFamily="34" charset="0"/>
                <a:ea typeface="Gelasio" pitchFamily="34" charset="-122"/>
                <a:cs typeface="Gelasio" pitchFamily="34" charset="-120"/>
              </a:rPr>
              <a:t>Together, these principles enable GPT-5 to perform complex tasks with greater </a:t>
            </a:r>
            <a:r>
              <a:rPr lang="en-US" sz="1250" b="1" dirty="0">
                <a:solidFill>
                  <a:srgbClr val="746558"/>
                </a:solidFill>
                <a:latin typeface="Gelasio Bold" pitchFamily="34" charset="0"/>
                <a:ea typeface="Gelasio Bold" pitchFamily="34" charset="-122"/>
                <a:cs typeface="Gelasio Bold" pitchFamily="34" charset="-120"/>
              </a:rPr>
              <a:t>accuracy, efficiency, and consistency.</a:t>
            </a:r>
            <a:r>
              <a:rPr lang="en-US" sz="1250" dirty="0">
                <a:solidFill>
                  <a:srgbClr val="746558"/>
                </a:solidFill>
                <a:latin typeface="Gelasio" pitchFamily="34" charset="0"/>
                <a:ea typeface="Gelasio" pitchFamily="34" charset="-122"/>
                <a:cs typeface="Gelasio" pitchFamily="34" charset="-120"/>
              </a:rPr>
              <a:t> Effective prompt engineering is about giving GPT-5 the right amount of direction, reasoning depth, and autonomy for the task.</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475" y="2278360"/>
            <a:ext cx="10868745" cy="590649"/>
          </a:xfrm>
          <a:prstGeom prst="rect">
            <a:avLst/>
          </a:prstGeom>
          <a:noFill/>
          <a:ln/>
        </p:spPr>
        <p:txBody>
          <a:bodyPr wrap="none" lIns="0" tIns="0" rIns="0" bIns="0" rtlCol="0" anchor="t"/>
          <a:lstStyle/>
          <a:p>
            <a:pPr marL="0" indent="0" algn="ctr">
              <a:lnSpc>
                <a:spcPct val="104000"/>
              </a:lnSpc>
              <a:buNone/>
            </a:pPr>
            <a:r>
              <a:rPr lang="en-US" sz="3700" dirty="0">
                <a:solidFill>
                  <a:srgbClr val="484237"/>
                </a:solidFill>
                <a:latin typeface="Gelasio SemiBold" pitchFamily="34" charset="0"/>
                <a:ea typeface="Gelasio SemiBold" pitchFamily="34" charset="-122"/>
                <a:cs typeface="Gelasio SemiBold" pitchFamily="34" charset="-120"/>
              </a:rPr>
              <a:t>Thank You</a:t>
            </a:r>
            <a:endParaRPr lang="en-US" sz="3700" dirty="0"/>
          </a:p>
        </p:txBody>
      </p:sp>
      <p:sp>
        <p:nvSpPr>
          <p:cNvPr id="3" name="Text 1"/>
          <p:cNvSpPr/>
          <p:nvPr/>
        </p:nvSpPr>
        <p:spPr>
          <a:xfrm>
            <a:off x="661475" y="3247033"/>
            <a:ext cx="10868745" cy="1332508"/>
          </a:xfrm>
          <a:prstGeom prst="rect">
            <a:avLst/>
          </a:prstGeom>
          <a:noFill/>
          <a:ln/>
        </p:spPr>
        <p:txBody>
          <a:bodyPr wrap="square" lIns="0" tIns="0" rIns="0" bIns="0" rtlCol="0" anchor="t"/>
          <a:lstStyle/>
          <a:p>
            <a:pPr marL="0" indent="0" algn="ctr">
              <a:lnSpc>
                <a:spcPct val="133000"/>
              </a:lnSpc>
              <a:spcAft>
                <a:spcPts val="1650"/>
              </a:spcAft>
              <a:buNone/>
            </a:pPr>
            <a:r>
              <a:rPr lang="en-US" sz="1450" dirty="0">
                <a:solidFill>
                  <a:srgbClr val="746558"/>
                </a:solidFill>
                <a:latin typeface="Gelasio" pitchFamily="34" charset="0"/>
                <a:ea typeface="Gelasio" pitchFamily="34" charset="-122"/>
                <a:cs typeface="Gelasio" pitchFamily="34" charset="-120"/>
              </a:rPr>
              <a:t>We appreciate your time and attention.</a:t>
            </a:r>
            <a:endParaRPr lang="en-US" sz="1450" dirty="0"/>
          </a:p>
          <a:p>
            <a:pPr marL="0" indent="0" algn="ctr">
              <a:lnSpc>
                <a:spcPct val="133000"/>
              </a:lnSpc>
              <a:spcAft>
                <a:spcPts val="1650"/>
              </a:spcAft>
              <a:buNone/>
            </a:pPr>
            <a:r>
              <a:rPr lang="en-US" sz="1450" dirty="0">
                <a:solidFill>
                  <a:srgbClr val="746558"/>
                </a:solidFill>
                <a:latin typeface="Gelasio" pitchFamily="34" charset="0"/>
                <a:ea typeface="Gelasio" pitchFamily="34" charset="-122"/>
                <a:cs typeface="Gelasio" pitchFamily="34" charset="-120"/>
              </a:rPr>
              <a:t>Great prompting helps AI deliver clearer, smarter, and more useful results.</a:t>
            </a:r>
            <a:endParaRPr lang="en-US" sz="1450" dirty="0"/>
          </a:p>
          <a:p>
            <a:pPr marL="0" indent="0" algn="ctr">
              <a:lnSpc>
                <a:spcPct val="133000"/>
              </a:lnSpc>
              <a:buNone/>
            </a:pPr>
            <a:r>
              <a:rPr lang="en-US" sz="1450" dirty="0">
                <a:solidFill>
                  <a:srgbClr val="746558"/>
                </a:solidFill>
                <a:latin typeface="Gelasio" pitchFamily="34" charset="0"/>
                <a:ea typeface="Gelasio" pitchFamily="34" charset="-122"/>
                <a:cs typeface="Gelasio" pitchFamily="34" charset="-120"/>
              </a:rPr>
              <a:t>Thank you for listening to our presentation.</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1080</Words>
  <Application>Microsoft Office PowerPoint</Application>
  <PresentationFormat>Widescreen</PresentationFormat>
  <Paragraphs>131</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Gelasio Bold</vt:lpstr>
      <vt:lpstr>Gelasio</vt:lpstr>
      <vt:lpstr>Twemoji Mozilla</vt:lpstr>
      <vt:lpstr>Calibri</vt:lpstr>
      <vt:lpstr>Gelasio SemiBold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hp</dc:creator>
  <cp:lastModifiedBy>Conrad Natuyamba</cp:lastModifiedBy>
  <cp:revision>3</cp:revision>
  <dcterms:created xsi:type="dcterms:W3CDTF">2026-09-09T16:52:54Z</dcterms:created>
  <dcterms:modified xsi:type="dcterms:W3CDTF">2026-09-16T17:03:13Z</dcterms:modified>
</cp:coreProperties>
</file>